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733"/>
                </a:solidFill>
                <a:latin typeface="Arial"/>
              </a:defRPr>
            </a:pPr>
            <a:r>
              <a:rPr sz="1300" b="0" i="0" u="none" strike="noStrike">
                <a:solidFill>
                  <a:srgbClr val="1B2733"/>
                </a:solidFill>
                <a:latin typeface="Arial"/>
              </a:rPr>
              <a:t>Validation F1-score by model</a:t>
            </a:r>
          </a:p>
        </c:rich>
      </c:tx>
      <c:layout/>
      <c:overlay val="0"/>
    </c:title>
    <c:autoTitleDeleted val="0"/>
    <c:plotArea>
      <c:layout/>
      <c:barChart>
        <c:barDir val="col"/>
        <c:grouping val="clustered"/>
        <c:varyColors val="0"/>
        <c:ser>
          <c:idx val="0"/>
          <c:order val="0"/>
          <c:tx>
            <c:strRef>
              <c:f>Sheet1!$B$1</c:f>
              <c:strCache>
                <c:ptCount val="1"/>
                <c:pt idx="0">
                  <c:v>Validation F1-score</c:v>
                </c:pt>
              </c:strCache>
            </c:strRef>
          </c:tx>
          <c:spPr>
            <a:solidFill>
              <a:srgbClr val="004E9A"/>
            </a:solidFill>
            <a:effectLst/>
          </c:spPr>
          <c:invertIfNegative val="0"/>
          <c:dLbls>
            <c:numFmt formatCode="0.00"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dPt>
            <c:idx val="0"/>
            <c:invertIfNegative val="0"/>
            <c:bubble3D val="0"/>
            <c:spPr>
              <a:solidFill>
                <a:srgbClr val="004E9A"/>
              </a:solidFill>
              <a:effectLst/>
            </c:spPr>
          </c:dPt>
          <c:dPt>
            <c:idx val="1"/>
            <c:invertIfNegative val="0"/>
            <c:bubble3D val="0"/>
            <c:spPr>
              <a:solidFill>
                <a:srgbClr val="004E9A"/>
              </a:solidFill>
              <a:effectLst/>
            </c:spPr>
          </c:dPt>
          <c:dPt>
            <c:idx val="2"/>
            <c:invertIfNegative val="0"/>
            <c:bubble3D val="0"/>
            <c:spPr>
              <a:solidFill>
                <a:srgbClr val="E4572E"/>
              </a:solidFill>
              <a:effectLst/>
            </c:spPr>
          </c:dPt>
          <c:dPt>
            <c:idx val="3"/>
            <c:invertIfNegative val="0"/>
            <c:bubble3D val="0"/>
            <c:spPr>
              <a:solidFill>
                <a:srgbClr val="004E9A"/>
              </a:solidFill>
              <a:effectLst/>
            </c:spPr>
          </c:dPt>
          <c:cat>
            <c:multiLvlStrRef>
              <c:f>Sheet1!$A$2:$A$5</c:f>
              <c:multiLvlStrCache>
                <c:ptCount val="4"/>
                <c:lvl>
                  <c:pt idx="0">
                    <c:v>Logistic
Regression</c:v>
                  </c:pt>
                  <c:pt idx="1">
                    <c:v>Linear
SVM</c:v>
                  </c:pt>
                  <c:pt idx="2">
                    <c:v>Lightweight
CNN</c:v>
                  </c:pt>
                  <c:pt idx="3">
                    <c:v>LSTM</c:v>
                  </c:pt>
                </c:lvl>
              </c:multiLvlStrCache>
            </c:multiLvlStrRef>
          </c:cat>
          <c:val>
            <c:numRef>
              <c:f>Sheet1!$B$2:$B$5</c:f>
              <c:numCache>
                <c:formatCode>General</c:formatCode>
                <c:ptCount val="4"/>
                <c:pt idx="0">
                  <c:v>0.1403</c:v>
                </c:pt>
                <c:pt idx="1">
                  <c:v>0.1305</c:v>
                </c:pt>
                <c:pt idx="2">
                  <c:v>0.7932</c:v>
                </c:pt>
                <c:pt idx="3">
                  <c:v>0.4947</c:v>
                </c:pt>
              </c:numCache>
            </c:numRef>
          </c:val>
        </c:ser>
        <c:dLbls>
          <c:numFmt formatCode="0.00" sourceLinked="0"/>
          <c:txPr>
            <a:bodyPr/>
            <a:lstStyle/>
            <a:p>
              <a:pPr>
                <a:defRPr b="0" i="0" strike="noStrike" sz="11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733"/>
                </a:solidFill>
                <a:latin typeface="Arial"/>
              </a:defRPr>
            </a:pPr>
            <a:endParaRPr lang="en-US"/>
          </a:p>
        </c:txPr>
        <c:crossAx val="2094734552"/>
        <c:crosses val="autoZero"/>
        <c:auto val="1"/>
        <c:lblAlgn val="ctr"/>
        <c:noMultiLvlLbl val="1"/>
      </c:catAx>
      <c:valAx>
        <c:axId val="2094734552"/>
        <c:scaling>
          <c:orientation val="minMax"/>
          <c:max val="0.9"/>
        </c:scaling>
        <c:delete val="0"/>
        <c:axPos val="l"/>
        <c:majorGridlines>
          <c:spPr>
            <a:ln w="9525" cap="flat">
              <a:solidFill>
                <a:srgbClr val="D7E1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Ayush Deshmukh. This is Lightweight ECG Signal Classification Using Machine Learning and Deep Learning — my MSc dissertation project, supervised by Dr Tayyab Ahmad Ansari.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smartwatch quietly recording your heart's electrical signal for twenty-four hours, out in the real world, not in a lab. Wearable ECG makes that kind of monitoring possible almost anywhere. But these devices run on tiny batteries and limited memory. So the real question isn't just whether a model can classify the signal accurately — it's whether it can do that while staying small and fast enough to actually live on the device. That tension, between accuracy and efficiency, is exactly what this project investigates.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research gives us two separate half-answers. Sun and colleagues showed ECG waveforms can support sleep-state classification, but flagged that raw waveforms might behave differently across recording devices. Separately, work on pruning and quantisation has proven ECG models can be compressed without wrecking performance. But here's the gap — nobody had tested representation choice and compression together, on the same participants, inside one pipeline. That's exactly what this project sets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Dryad 24-hour physiological monitoring dataset — thirty participants, fifty-eight free-living ECG recordings, sampled at 250 hertz. My original plan was arrhythmia detection, but dataset inspection told a different story: the labels that actually existed were Wake and Sleep. So the project pivoted. Every recording was cleaned with a fourth-order Butterworth band-pass filter, then sliced into ten-second windows with fifty percent overlap. Each window's centre timestamp was matched to the nearest Wake or Sleep annotation, within a fifteen-minute tolerance. The result: over four hundred and twenty-one thousand labelled windows — and every split was done at the participant level, so no one person's data could leak between training, validation,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two parallel pathways ran on the exact same signal. The first: nine hand-crafted statistical features — mean, energy, root-mean-square — feeding a Logistic Regression and a Linear SVM. The second: the raw two-thousand-five-hundred-sample waveform, fed directly into a compact CNN and an LSTM. Everything was built in Python, using NumPy and SciPy for signal processing, TensorFlow for the neural models, scikit-learn for the classical ones, all developed inside Jupyter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in action. This is the raw ECG signal — noisy, drifting, hard to trust. After filtering, the waveform cleans up beautifully, and you can already see individual heartbeats emerging inside each ten-second window. This is exactly what the CNN sees — no hand-crafted features, no shortcuts, just the waveform itself, learning its own representation directly from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pathway won? The lightweight CNN, decisively. It reached a validation F1-score of 0.79, compared with just 0.14 for Logistic Regression and 0.13 for the Linear SVM — both barely above chance. Even the LSTM, at 0.49, couldn't keep up. The takeaway is striking: for this task, the raw waveform carries information that nine summary statistics simply throw away. The CNN was selected as the optimisation candidate — using validation evidence only, with the held-out participants left completely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winner chosen, the real engineering question became: how small can it get? I pruned the CNN at 20, 40, 60 and 80 percent target sparsity. And the result wasn't a straight line — the 60 percent target actually gave the strongest F1-score, while 80 percent gave the best ROC-AUC. More compression didn't always mean worse performance. Sometimes, it meant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came quantisation. Converting the frozen CNN to eight-bit dynamic-range weights shrank it from 14.88 kilobytes down to 9.80 — a 34 percent reduction — and nearly halved prediction time, from 51 seconds down to 27.7. Validation F1 barely moved, dropping by just 0.0045. This chart says it all: the quantised model sits almost exactly where the full model does on accuracy, but miles ahead on speed and size. That's the entire promise of this project,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moment of truth: five participants the model had never seen. The quantised CNN scored an F1 of 0.738 and a ROC-AUC of 0.774, with precision as high as 0.90. But performance wasn't uniform — one participant scored 0.91, another just 0.39. I'm not hiding that. It's an honest, positive-and-negative result, and it says something important: this model works well on average, but individual physiology still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does this close the gap I opened with? Yes — within its scope. A compact waveform model does outperform hand-crafted features, and it does compress well. But I'll be upfront about the limits: only five held-out participants, a fifteen-minute label-matching tolerance, and preprocessing that isn't perfectly matched between the ML and DL pipelines. These aren't flaws to hide. They're the honest boundaries of what this evidence can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lightweight CNN can tell wake from sleep using raw ECG alone, and it compresses to a fraction of its size with almost no loss in performance.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04E9A"/>
          </a:solidFill>
          <a:ln/>
        </p:spPr>
      </p:sp>
      <p:pic>
        <p:nvPicPr>
          <p:cNvPr id="3" name="Image 0" descr="/home/claude/work/qmul_logo.jpg">    </p:cNvPr>
          <p:cNvPicPr>
            <a:picLocks noChangeAspect="1"/>
          </p:cNvPicPr>
          <p:nvPr/>
        </p:nvPicPr>
        <p:blipFill>
          <a:blip r:embed="rId1"/>
          <a:stretch>
            <a:fillRect/>
          </a:stretch>
        </p:blipFill>
        <p:spPr>
          <a:xfrm>
            <a:off x="9921240" y="502920"/>
            <a:ext cx="1828800" cy="484632"/>
          </a:xfrm>
          <a:prstGeom prst="rect">
            <a:avLst/>
          </a:prstGeom>
        </p:spPr>
      </p:pic>
      <p:sp>
        <p:nvSpPr>
          <p:cNvPr id="4" name="Text 1"/>
          <p:cNvSpPr/>
          <p:nvPr/>
        </p:nvSpPr>
        <p:spPr>
          <a:xfrm>
            <a:off x="822960" y="1965960"/>
            <a:ext cx="7315200" cy="320040"/>
          </a:xfrm>
          <a:prstGeom prst="rect">
            <a:avLst/>
          </a:prstGeom>
          <a:noFill/>
          <a:ln/>
        </p:spPr>
        <p:txBody>
          <a:bodyPr wrap="square" rtlCol="0" anchor="ctr"/>
          <a:lstStyle/>
          <a:p>
            <a:pPr indent="0" marL="0">
              <a:buNone/>
            </a:pPr>
            <a:r>
              <a:rPr lang="en-US" sz="1300" b="1" spc="250" kern="0" dirty="0">
                <a:solidFill>
                  <a:srgbClr val="E4572E"/>
                </a:solidFill>
                <a:latin typeface="Calibri" pitchFamily="34" charset="0"/>
                <a:ea typeface="Calibri" pitchFamily="34" charset="-122"/>
                <a:cs typeface="Calibri" pitchFamily="34" charset="-120"/>
              </a:rPr>
              <a:t>MSc PROJECT PRESENTATION</a:t>
            </a:r>
            <a:endParaRPr lang="en-US" sz="1300" dirty="0"/>
          </a:p>
        </p:txBody>
      </p:sp>
      <p:sp>
        <p:nvSpPr>
          <p:cNvPr id="5" name="Text 2"/>
          <p:cNvSpPr/>
          <p:nvPr/>
        </p:nvSpPr>
        <p:spPr>
          <a:xfrm>
            <a:off x="822960" y="2331720"/>
            <a:ext cx="9509760" cy="1737360"/>
          </a:xfrm>
          <a:prstGeom prst="rect">
            <a:avLst/>
          </a:prstGeom>
          <a:noFill/>
          <a:ln/>
        </p:spPr>
        <p:txBody>
          <a:bodyPr wrap="square" rtlCol="0" anchor="ctr"/>
          <a:lstStyle/>
          <a:p>
            <a:pPr indent="0" marL="0">
              <a:lnSpc>
                <a:spcPct val="108000"/>
              </a:lnSpc>
              <a:buNone/>
            </a:pPr>
            <a:r>
              <a:rPr lang="en-US" sz="3800" b="1" dirty="0">
                <a:solidFill>
                  <a:srgbClr val="1B2733"/>
                </a:solidFill>
                <a:latin typeface="Cambria" pitchFamily="34" charset="0"/>
                <a:ea typeface="Cambria" pitchFamily="34" charset="-122"/>
                <a:cs typeface="Cambria" pitchFamily="34" charset="-120"/>
              </a:rPr>
              <a:t>Lightweight ECG Signal Classification</a:t>
            </a:r>
            <a:endParaRPr lang="en-US" sz="3800" dirty="0"/>
          </a:p>
          <a:p>
            <a:pPr indent="0" marL="0">
              <a:lnSpc>
                <a:spcPct val="108000"/>
              </a:lnSpc>
              <a:buNone/>
            </a:pPr>
            <a:r>
              <a:rPr lang="en-US" sz="3800" b="1" dirty="0">
                <a:solidFill>
                  <a:srgbClr val="1B2733"/>
                </a:solidFill>
                <a:latin typeface="Cambria" pitchFamily="34" charset="0"/>
                <a:ea typeface="Cambria" pitchFamily="34" charset="-122"/>
                <a:cs typeface="Cambria" pitchFamily="34" charset="-120"/>
              </a:rPr>
              <a:t>Using Machine Learning and Deep Learning</a:t>
            </a:r>
            <a:endParaRPr lang="en-US" sz="3800" dirty="0"/>
          </a:p>
        </p:txBody>
      </p:sp>
      <p:sp>
        <p:nvSpPr>
          <p:cNvPr id="6" name="Shape 3"/>
          <p:cNvSpPr/>
          <p:nvPr/>
        </p:nvSpPr>
        <p:spPr>
          <a:xfrm>
            <a:off x="841248" y="4160520"/>
            <a:ext cx="5943600" cy="0"/>
          </a:xfrm>
          <a:prstGeom prst="line">
            <a:avLst/>
          </a:prstGeom>
          <a:noFill/>
          <a:ln w="15875">
            <a:solidFill>
              <a:srgbClr val="D7E1EC"/>
            </a:solidFill>
            <a:prstDash val="solid"/>
          </a:ln>
        </p:spPr>
      </p:sp>
      <p:sp>
        <p:nvSpPr>
          <p:cNvPr id="7" name="Text 4"/>
          <p:cNvSpPr/>
          <p:nvPr/>
        </p:nvSpPr>
        <p:spPr>
          <a:xfrm>
            <a:off x="822960" y="4343400"/>
            <a:ext cx="7772400" cy="1463040"/>
          </a:xfrm>
          <a:prstGeom prst="rect">
            <a:avLst/>
          </a:prstGeom>
          <a:noFill/>
          <a:ln/>
        </p:spPr>
        <p:txBody>
          <a:bodyPr wrap="square" rtlCol="0" anchor="t"/>
          <a:lstStyle/>
          <a:p>
            <a:pPr indent="0" marL="0">
              <a:lnSpc>
                <a:spcPct val="125000"/>
              </a:lnSpc>
              <a:buNone/>
            </a:pPr>
            <a:r>
              <a:rPr lang="en-US" sz="1500" b="1" dirty="0">
                <a:solidFill>
                  <a:srgbClr val="1B2733"/>
                </a:solidFill>
                <a:latin typeface="Calibri" pitchFamily="34" charset="0"/>
                <a:ea typeface="Calibri" pitchFamily="34" charset="-122"/>
                <a:cs typeface="Calibri" pitchFamily="34" charset="-120"/>
              </a:rPr>
              <a:t>Ayush Nitin Deshmukh
</a:t>
            </a:r>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MSc Data Science  ·  School of Electronic Engineering and Computer Science
</a:t>
            </a:r>
            <a:pPr indent="0" marL="0">
              <a:lnSpc>
                <a:spcPct val="125000"/>
              </a:lnSpc>
              <a:buNone/>
            </a:pPr>
            <a:r>
              <a:rPr lang="en-US" sz="1250" dirty="0">
                <a:solidFill>
                  <a:srgbClr val="5C6B7A"/>
                </a:solidFill>
                <a:latin typeface="Calibri" pitchFamily="34" charset="0"/>
                <a:ea typeface="Calibri" pitchFamily="34" charset="-122"/>
                <a:cs typeface="Calibri" pitchFamily="34" charset="-120"/>
              </a:rPr>
              <a:t>Queen Mary University of London  ·  ID: 250123427
</a:t>
            </a:r>
            <a:pPr indent="0" marL="0">
              <a:lnSpc>
                <a:spcPct val="125000"/>
              </a:lnSpc>
              <a:buNone/>
            </a:pPr>
            <a:r>
              <a:rPr lang="en-US" sz="1250" i="1" dirty="0">
                <a:solidFill>
                  <a:srgbClr val="5C6B7A"/>
                </a:solidFill>
                <a:latin typeface="Calibri" pitchFamily="34" charset="0"/>
                <a:ea typeface="Calibri" pitchFamily="34" charset="-122"/>
                <a:cs typeface="Calibri" pitchFamily="34" charset="-120"/>
              </a:rPr>
              <a:t>Supervisor: Dr Tayyab Ahmad Ansari</a:t>
            </a:r>
            <a:endParaRPr lang="en-US" sz="1500" dirty="0"/>
          </a:p>
        </p:txBody>
      </p:sp>
      <p:sp>
        <p:nvSpPr>
          <p:cNvPr id="8" name="Text 5"/>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02</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THE PROBLEM</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Wearable ECG has a hidden constraint</a:t>
            </a:r>
            <a:endParaRPr lang="en-US" sz="3200" dirty="0"/>
          </a:p>
        </p:txBody>
      </p:sp>
      <p:sp>
        <p:nvSpPr>
          <p:cNvPr id="7" name="Text 4"/>
          <p:cNvSpPr/>
          <p:nvPr/>
        </p:nvSpPr>
        <p:spPr>
          <a:xfrm>
            <a:off x="502920" y="1691640"/>
            <a:ext cx="6035040" cy="1737360"/>
          </a:xfrm>
          <a:prstGeom prst="rect">
            <a:avLst/>
          </a:prstGeom>
          <a:noFill/>
          <a:ln/>
        </p:spPr>
        <p:txBody>
          <a:bodyPr wrap="square" rtlCol="0" anchor="t"/>
          <a:lstStyle/>
          <a:p>
            <a:pPr indent="0" marL="0">
              <a:lnSpc>
                <a:spcPct val="130000"/>
              </a:lnSpc>
              <a:buNone/>
            </a:pPr>
            <a:r>
              <a:rPr lang="en-US" sz="1500" dirty="0">
                <a:solidFill>
                  <a:srgbClr val="1B2733"/>
                </a:solidFill>
                <a:latin typeface="Calibri" pitchFamily="34" charset="0"/>
                <a:ea typeface="Calibri" pitchFamily="34" charset="-122"/>
                <a:cs typeface="Calibri" pitchFamily="34" charset="-120"/>
              </a:rPr>
              <a:t>A smartwatch can quietly record the heart's electrical signal for 24 hours, in the real world — not a lab. That's what makes wearable ECG powerful. But the devices that capture it run on tiny batteries and limited memory.</a:t>
            </a:r>
            <a:endParaRPr lang="en-US" sz="1500" dirty="0"/>
          </a:p>
        </p:txBody>
      </p:sp>
      <p:sp>
        <p:nvSpPr>
          <p:cNvPr id="8" name="Text 5"/>
          <p:cNvSpPr/>
          <p:nvPr/>
        </p:nvSpPr>
        <p:spPr>
          <a:xfrm>
            <a:off x="502920" y="3429000"/>
            <a:ext cx="6035040" cy="1463040"/>
          </a:xfrm>
          <a:prstGeom prst="rect">
            <a:avLst/>
          </a:prstGeom>
          <a:noFill/>
          <a:ln/>
        </p:spPr>
        <p:txBody>
          <a:bodyPr wrap="square" rtlCol="0" anchor="t"/>
          <a:lstStyle/>
          <a:p>
            <a:pPr indent="0" marL="0">
              <a:lnSpc>
                <a:spcPct val="130000"/>
              </a:lnSpc>
              <a:buNone/>
            </a:pPr>
            <a:r>
              <a:rPr lang="en-US" sz="1500" dirty="0">
                <a:solidFill>
                  <a:srgbClr val="1B2733"/>
                </a:solidFill>
                <a:latin typeface="Calibri" pitchFamily="34" charset="0"/>
                <a:ea typeface="Calibri" pitchFamily="34" charset="-122"/>
                <a:cs typeface="Calibri" pitchFamily="34" charset="-120"/>
              </a:rPr>
              <a:t>So the real question isn't only “can a model classify the signal accurately?” It's whether it can do that while staying small and fast enough to actually live on the device.</a:t>
            </a:r>
            <a:endParaRPr lang="en-US" sz="1500" dirty="0"/>
          </a:p>
        </p:txBody>
      </p:sp>
      <p:sp>
        <p:nvSpPr>
          <p:cNvPr id="9" name="Shape 6"/>
          <p:cNvSpPr/>
          <p:nvPr/>
        </p:nvSpPr>
        <p:spPr>
          <a:xfrm>
            <a:off x="6903720" y="1691640"/>
            <a:ext cx="4754880" cy="3246120"/>
          </a:xfrm>
          <a:prstGeom prst="roundRect">
            <a:avLst>
              <a:gd name="adj" fmla="val 2817"/>
            </a:avLst>
          </a:prstGeom>
          <a:solidFill>
            <a:srgbClr val="F2F6FB"/>
          </a:solidFill>
          <a:ln/>
        </p:spPr>
      </p:sp>
      <p:sp>
        <p:nvSpPr>
          <p:cNvPr id="10" name="Text 7"/>
          <p:cNvSpPr/>
          <p:nvPr/>
        </p:nvSpPr>
        <p:spPr>
          <a:xfrm>
            <a:off x="7178040" y="1920240"/>
            <a:ext cx="4114800" cy="274320"/>
          </a:xfrm>
          <a:prstGeom prst="rect">
            <a:avLst/>
          </a:prstGeom>
          <a:noFill/>
          <a:ln/>
        </p:spPr>
        <p:txBody>
          <a:bodyPr wrap="square" rtlCol="0" anchor="ctr"/>
          <a:lstStyle/>
          <a:p>
            <a:pPr indent="0" marL="0">
              <a:buNone/>
            </a:pPr>
            <a:r>
              <a:rPr lang="en-US" sz="1100" b="1" spc="200" kern="0" dirty="0">
                <a:solidFill>
                  <a:srgbClr val="004E9A"/>
                </a:solidFill>
                <a:latin typeface="Calibri" pitchFamily="34" charset="0"/>
                <a:ea typeface="Calibri" pitchFamily="34" charset="-122"/>
                <a:cs typeface="Calibri" pitchFamily="34" charset="-120"/>
              </a:rPr>
              <a:t>THE TENSION</a:t>
            </a:r>
            <a:endParaRPr lang="en-US" sz="1100" dirty="0"/>
          </a:p>
        </p:txBody>
      </p:sp>
      <p:sp>
        <p:nvSpPr>
          <p:cNvPr id="11" name="Text 8"/>
          <p:cNvSpPr/>
          <p:nvPr/>
        </p:nvSpPr>
        <p:spPr>
          <a:xfrm>
            <a:off x="7178040" y="2286000"/>
            <a:ext cx="4114800" cy="548640"/>
          </a:xfrm>
          <a:prstGeom prst="rect">
            <a:avLst/>
          </a:prstGeom>
          <a:noFill/>
          <a:ln/>
        </p:spPr>
        <p:txBody>
          <a:bodyPr wrap="square" rtlCol="0" anchor="ctr"/>
          <a:lstStyle/>
          <a:p>
            <a:pPr indent="0" marL="0">
              <a:buNone/>
            </a:pPr>
            <a:r>
              <a:rPr lang="en-US" sz="2400" b="1" dirty="0">
                <a:solidFill>
                  <a:srgbClr val="1B2733"/>
                </a:solidFill>
                <a:latin typeface="Cambria" pitchFamily="34" charset="0"/>
                <a:ea typeface="Cambria" pitchFamily="34" charset="-122"/>
                <a:cs typeface="Cambria" pitchFamily="34" charset="-120"/>
              </a:rPr>
              <a:t>Accuracy</a:t>
            </a:r>
            <a:endParaRPr lang="en-US" sz="2400" dirty="0"/>
          </a:p>
        </p:txBody>
      </p:sp>
      <p:sp>
        <p:nvSpPr>
          <p:cNvPr id="12" name="Text 9"/>
          <p:cNvSpPr/>
          <p:nvPr/>
        </p:nvSpPr>
        <p:spPr>
          <a:xfrm>
            <a:off x="7178040" y="2788920"/>
            <a:ext cx="4114800" cy="365760"/>
          </a:xfrm>
          <a:prstGeom prst="rect">
            <a:avLst/>
          </a:prstGeom>
          <a:noFill/>
          <a:ln/>
        </p:spPr>
        <p:txBody>
          <a:bodyPr wrap="square"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vs</a:t>
            </a:r>
            <a:endParaRPr lang="en-US" sz="1400" dirty="0"/>
          </a:p>
        </p:txBody>
      </p:sp>
      <p:sp>
        <p:nvSpPr>
          <p:cNvPr id="13" name="Text 10"/>
          <p:cNvSpPr/>
          <p:nvPr/>
        </p:nvSpPr>
        <p:spPr>
          <a:xfrm>
            <a:off x="7178040" y="3108960"/>
            <a:ext cx="4114800" cy="548640"/>
          </a:xfrm>
          <a:prstGeom prst="rect">
            <a:avLst/>
          </a:prstGeom>
          <a:noFill/>
          <a:ln/>
        </p:spPr>
        <p:txBody>
          <a:bodyPr wrap="square" rtlCol="0" anchor="ctr"/>
          <a:lstStyle/>
          <a:p>
            <a:pPr indent="0" marL="0">
              <a:buNone/>
            </a:pPr>
            <a:r>
              <a:rPr lang="en-US" sz="2400" b="1" dirty="0">
                <a:solidFill>
                  <a:srgbClr val="E4572E"/>
                </a:solidFill>
                <a:latin typeface="Cambria" pitchFamily="34" charset="0"/>
                <a:ea typeface="Cambria" pitchFamily="34" charset="-122"/>
                <a:cs typeface="Cambria" pitchFamily="34" charset="-120"/>
              </a:rPr>
              <a:t>Efficiency</a:t>
            </a:r>
            <a:endParaRPr lang="en-US" sz="2400" dirty="0"/>
          </a:p>
        </p:txBody>
      </p:sp>
      <p:sp>
        <p:nvSpPr>
          <p:cNvPr id="14" name="Text 11"/>
          <p:cNvSpPr/>
          <p:nvPr/>
        </p:nvSpPr>
        <p:spPr>
          <a:xfrm>
            <a:off x="7178040" y="3794760"/>
            <a:ext cx="4206240" cy="1051560"/>
          </a:xfrm>
          <a:prstGeom prst="rect">
            <a:avLst/>
          </a:prstGeom>
          <a:noFill/>
          <a:ln/>
        </p:spPr>
        <p:txBody>
          <a:bodyPr wrap="square" rtlCol="0" anchor="ctr"/>
          <a:lstStyle/>
          <a:p>
            <a:pPr indent="0" marL="0">
              <a:lnSpc>
                <a:spcPct val="125000"/>
              </a:lnSpc>
              <a:buNone/>
            </a:pPr>
            <a:r>
              <a:rPr lang="en-US" sz="1200" dirty="0">
                <a:solidFill>
                  <a:srgbClr val="5C6B7A"/>
                </a:solidFill>
                <a:latin typeface="Calibri" pitchFamily="34" charset="0"/>
                <a:ea typeface="Calibri" pitchFamily="34" charset="-122"/>
                <a:cs typeface="Calibri" pitchFamily="34" charset="-120"/>
              </a:rPr>
              <a:t>That tension is exactly what this project investigates — for a physiological-state classifier running on free-living ECG.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03</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BACKGROUND &amp; RESEARCH GAP</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Two research threads, never tested together</a:t>
            </a:r>
            <a:endParaRPr lang="en-US" sz="3200" dirty="0"/>
          </a:p>
        </p:txBody>
      </p:sp>
      <p:sp>
        <p:nvSpPr>
          <p:cNvPr id="7" name="Shape 4"/>
          <p:cNvSpPr/>
          <p:nvPr/>
        </p:nvSpPr>
        <p:spPr>
          <a:xfrm>
            <a:off x="502920" y="1783080"/>
            <a:ext cx="5074920" cy="3246120"/>
          </a:xfrm>
          <a:prstGeom prst="roundRect">
            <a:avLst>
              <a:gd name="adj" fmla="val 2817"/>
            </a:avLst>
          </a:prstGeom>
          <a:solidFill>
            <a:srgbClr val="F2F6FB"/>
          </a:solidFill>
          <a:ln/>
        </p:spPr>
      </p:sp>
      <p:sp>
        <p:nvSpPr>
          <p:cNvPr id="8" name="Text 5"/>
          <p:cNvSpPr/>
          <p:nvPr/>
        </p:nvSpPr>
        <p:spPr>
          <a:xfrm>
            <a:off x="777240" y="2011680"/>
            <a:ext cx="4526280" cy="274320"/>
          </a:xfrm>
          <a:prstGeom prst="rect">
            <a:avLst/>
          </a:prstGeom>
          <a:noFill/>
          <a:ln/>
        </p:spPr>
        <p:txBody>
          <a:bodyPr wrap="square" rtlCol="0" anchor="ctr"/>
          <a:lstStyle/>
          <a:p>
            <a:pPr indent="0" marL="0">
              <a:buNone/>
            </a:pPr>
            <a:r>
              <a:rPr lang="en-US" sz="1100" b="1" spc="150" kern="0" dirty="0">
                <a:solidFill>
                  <a:srgbClr val="004E9A"/>
                </a:solidFill>
                <a:latin typeface="Calibri" pitchFamily="34" charset="0"/>
                <a:ea typeface="Calibri" pitchFamily="34" charset="-122"/>
                <a:cs typeface="Calibri" pitchFamily="34" charset="-120"/>
              </a:rPr>
              <a:t>REPRESENTATION</a:t>
            </a:r>
            <a:endParaRPr lang="en-US" sz="1100" dirty="0"/>
          </a:p>
        </p:txBody>
      </p:sp>
      <p:sp>
        <p:nvSpPr>
          <p:cNvPr id="9" name="Text 6"/>
          <p:cNvSpPr/>
          <p:nvPr/>
        </p:nvSpPr>
        <p:spPr>
          <a:xfrm>
            <a:off x="777240" y="2377440"/>
            <a:ext cx="4526280" cy="1371600"/>
          </a:xfrm>
          <a:prstGeom prst="rect">
            <a:avLst/>
          </a:prstGeom>
          <a:noFill/>
          <a:ln/>
        </p:spPr>
        <p:txBody>
          <a:bodyPr wrap="square" rtlCol="0" anchor="ctr"/>
          <a:lstStyle/>
          <a:p>
            <a:pPr indent="0" marL="0">
              <a:lnSpc>
                <a:spcPct val="130000"/>
              </a:lnSpc>
              <a:buNone/>
            </a:pPr>
            <a:r>
              <a:rPr lang="en-US" sz="1350" dirty="0">
                <a:solidFill>
                  <a:srgbClr val="1B2733"/>
                </a:solidFill>
                <a:latin typeface="Calibri" pitchFamily="34" charset="0"/>
                <a:ea typeface="Calibri" pitchFamily="34" charset="-122"/>
                <a:cs typeface="Calibri" pitchFamily="34" charset="-120"/>
              </a:rPr>
              <a:t>Sun et al. (2020) showed ECG waveforms can support sleep-state classification — but flagged that raw waveforms might behave differently across recording devices.</a:t>
            </a:r>
            <a:endParaRPr lang="en-US" sz="1350" dirty="0"/>
          </a:p>
        </p:txBody>
      </p:sp>
      <p:sp>
        <p:nvSpPr>
          <p:cNvPr id="10" name="Text 7"/>
          <p:cNvSpPr/>
          <p:nvPr/>
        </p:nvSpPr>
        <p:spPr>
          <a:xfrm>
            <a:off x="777240" y="4160520"/>
            <a:ext cx="4526280" cy="731520"/>
          </a:xfrm>
          <a:prstGeom prst="rect">
            <a:avLst/>
          </a:prstGeom>
          <a:noFill/>
          <a:ln/>
        </p:spPr>
        <p:txBody>
          <a:bodyPr wrap="square" rtlCol="0" anchor="ctr"/>
          <a:lstStyle/>
          <a:p>
            <a:pPr indent="0" marL="0">
              <a:buNone/>
            </a:pPr>
            <a:r>
              <a:rPr lang="en-US" sz="1200" i="1" dirty="0">
                <a:solidFill>
                  <a:srgbClr val="5C6B7A"/>
                </a:solidFill>
                <a:latin typeface="Calibri" pitchFamily="34" charset="0"/>
                <a:ea typeface="Calibri" pitchFamily="34" charset="-122"/>
                <a:cs typeface="Calibri" pitchFamily="34" charset="-120"/>
              </a:rPr>
              <a:t>Open question: is the full waveform worth its cost?</a:t>
            </a:r>
            <a:endParaRPr lang="en-US" sz="1200" dirty="0"/>
          </a:p>
        </p:txBody>
      </p:sp>
      <p:sp>
        <p:nvSpPr>
          <p:cNvPr id="11" name="Shape 8"/>
          <p:cNvSpPr/>
          <p:nvPr/>
        </p:nvSpPr>
        <p:spPr>
          <a:xfrm>
            <a:off x="6611112" y="1783080"/>
            <a:ext cx="5074920" cy="3246120"/>
          </a:xfrm>
          <a:prstGeom prst="roundRect">
            <a:avLst>
              <a:gd name="adj" fmla="val 2817"/>
            </a:avLst>
          </a:prstGeom>
          <a:solidFill>
            <a:srgbClr val="F2F6FB"/>
          </a:solidFill>
          <a:ln/>
        </p:spPr>
      </p:sp>
      <p:sp>
        <p:nvSpPr>
          <p:cNvPr id="12" name="Text 9"/>
          <p:cNvSpPr/>
          <p:nvPr/>
        </p:nvSpPr>
        <p:spPr>
          <a:xfrm>
            <a:off x="6885432" y="2011680"/>
            <a:ext cx="4526280" cy="274320"/>
          </a:xfrm>
          <a:prstGeom prst="rect">
            <a:avLst/>
          </a:prstGeom>
          <a:noFill/>
          <a:ln/>
        </p:spPr>
        <p:txBody>
          <a:bodyPr wrap="square" rtlCol="0" anchor="ctr"/>
          <a:lstStyle/>
          <a:p>
            <a:pPr indent="0" marL="0">
              <a:buNone/>
            </a:pPr>
            <a:r>
              <a:rPr lang="en-US" sz="1100" b="1" spc="150" kern="0" dirty="0">
                <a:solidFill>
                  <a:srgbClr val="004E9A"/>
                </a:solidFill>
                <a:latin typeface="Calibri" pitchFamily="34" charset="0"/>
                <a:ea typeface="Calibri" pitchFamily="34" charset="-122"/>
                <a:cs typeface="Calibri" pitchFamily="34" charset="-120"/>
              </a:rPr>
              <a:t>EFFICIENCY</a:t>
            </a:r>
            <a:endParaRPr lang="en-US" sz="1100" dirty="0"/>
          </a:p>
        </p:txBody>
      </p:sp>
      <p:sp>
        <p:nvSpPr>
          <p:cNvPr id="13" name="Text 10"/>
          <p:cNvSpPr/>
          <p:nvPr/>
        </p:nvSpPr>
        <p:spPr>
          <a:xfrm>
            <a:off x="6885432" y="2377440"/>
            <a:ext cx="4526280" cy="1371600"/>
          </a:xfrm>
          <a:prstGeom prst="rect">
            <a:avLst/>
          </a:prstGeom>
          <a:noFill/>
          <a:ln/>
        </p:spPr>
        <p:txBody>
          <a:bodyPr wrap="square" rtlCol="0" anchor="ctr"/>
          <a:lstStyle/>
          <a:p>
            <a:pPr indent="0" marL="0">
              <a:lnSpc>
                <a:spcPct val="130000"/>
              </a:lnSpc>
              <a:buNone/>
            </a:pPr>
            <a:r>
              <a:rPr lang="en-US" sz="1350" dirty="0">
                <a:solidFill>
                  <a:srgbClr val="1B2733"/>
                </a:solidFill>
                <a:latin typeface="Calibri" pitchFamily="34" charset="0"/>
                <a:ea typeface="Calibri" pitchFamily="34" charset="-122"/>
                <a:cs typeface="Calibri" pitchFamily="34" charset="-120"/>
              </a:rPr>
              <a:t>Kim et al., Ribeiro et al. and Liu et al. proved ECG models can be pruned and quantised — shrunk — without wrecking predictive performance.</a:t>
            </a:r>
            <a:endParaRPr lang="en-US" sz="1350" dirty="0"/>
          </a:p>
        </p:txBody>
      </p:sp>
      <p:sp>
        <p:nvSpPr>
          <p:cNvPr id="14" name="Text 11"/>
          <p:cNvSpPr/>
          <p:nvPr/>
        </p:nvSpPr>
        <p:spPr>
          <a:xfrm>
            <a:off x="6885432" y="4160520"/>
            <a:ext cx="4526280" cy="731520"/>
          </a:xfrm>
          <a:prstGeom prst="rect">
            <a:avLst/>
          </a:prstGeom>
          <a:noFill/>
          <a:ln/>
        </p:spPr>
        <p:txBody>
          <a:bodyPr wrap="square" rtlCol="0" anchor="ctr"/>
          <a:lstStyle/>
          <a:p>
            <a:pPr indent="0" marL="0">
              <a:buNone/>
            </a:pPr>
            <a:r>
              <a:rPr lang="en-US" sz="1200" i="1" dirty="0">
                <a:solidFill>
                  <a:srgbClr val="5C6B7A"/>
                </a:solidFill>
                <a:latin typeface="Calibri" pitchFamily="34" charset="0"/>
                <a:ea typeface="Calibri" pitchFamily="34" charset="-122"/>
                <a:cs typeface="Calibri" pitchFamily="34" charset="-120"/>
              </a:rPr>
              <a:t>But tested on different datasets, tasks, environments.</a:t>
            </a:r>
            <a:endParaRPr lang="en-US" sz="1200" dirty="0"/>
          </a:p>
        </p:txBody>
      </p:sp>
      <p:sp>
        <p:nvSpPr>
          <p:cNvPr id="15" name="Shape 12"/>
          <p:cNvSpPr/>
          <p:nvPr/>
        </p:nvSpPr>
        <p:spPr>
          <a:xfrm>
            <a:off x="502920" y="5257800"/>
            <a:ext cx="11183112" cy="777240"/>
          </a:xfrm>
          <a:prstGeom prst="roundRect">
            <a:avLst>
              <a:gd name="adj" fmla="val 11765"/>
            </a:avLst>
          </a:prstGeom>
          <a:solidFill>
            <a:srgbClr val="004E9A"/>
          </a:solidFill>
          <a:ln/>
        </p:spPr>
      </p:sp>
      <p:sp>
        <p:nvSpPr>
          <p:cNvPr id="16" name="Text 13"/>
          <p:cNvSpPr/>
          <p:nvPr/>
        </p:nvSpPr>
        <p:spPr>
          <a:xfrm>
            <a:off x="777240" y="5257800"/>
            <a:ext cx="10698480" cy="777240"/>
          </a:xfrm>
          <a:prstGeom prst="rect">
            <a:avLst/>
          </a:prstGeom>
          <a:noFill/>
          <a:ln/>
        </p:spPr>
        <p:txBody>
          <a:bodyPr wrap="square" rtlCol="0" anchor="ctr"/>
          <a:lstStyle/>
          <a:p>
            <a:pPr indent="0" marL="0">
              <a:lnSpc>
                <a:spcPct val="115000"/>
              </a:lnSpc>
              <a:buNone/>
            </a:pPr>
            <a:r>
              <a:rPr lang="en-US" sz="1350" b="1" dirty="0">
                <a:solidFill>
                  <a:srgbClr val="E4572E"/>
                </a:solidFill>
                <a:latin typeface="Calibri" pitchFamily="34" charset="0"/>
                <a:ea typeface="Calibri" pitchFamily="34" charset="-122"/>
                <a:cs typeface="Calibri" pitchFamily="34" charset="-120"/>
              </a:rPr>
              <a:t>THE GAP:  </a:t>
            </a:r>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nobody had tested representation choice and compression together, on the same participants, inside one pipeline. This project closes 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04</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DATA &amp; METHODOLOGY</a:t>
            </a:r>
            <a:endParaRPr lang="en-US" sz="1200" dirty="0"/>
          </a:p>
        </p:txBody>
      </p:sp>
      <p:sp>
        <p:nvSpPr>
          <p:cNvPr id="6" name="Text 3"/>
          <p:cNvSpPr/>
          <p:nvPr/>
        </p:nvSpPr>
        <p:spPr>
          <a:xfrm>
            <a:off x="502920" y="658368"/>
            <a:ext cx="11155680" cy="822960"/>
          </a:xfrm>
          <a:prstGeom prst="rect">
            <a:avLst/>
          </a:prstGeom>
          <a:noFill/>
          <a:ln/>
        </p:spPr>
        <p:txBody>
          <a:bodyPr wrap="square" rtlCol="0" anchor="t"/>
          <a:lstStyle/>
          <a:p>
            <a:pPr algn="l" indent="0" marL="0">
              <a:buNone/>
            </a:pPr>
            <a:r>
              <a:rPr lang="en-US" sz="2800" b="1" dirty="0">
                <a:solidFill>
                  <a:srgbClr val="1B2733"/>
                </a:solidFill>
                <a:latin typeface="Cambria" pitchFamily="34" charset="0"/>
                <a:ea typeface="Cambria" pitchFamily="34" charset="-122"/>
                <a:cs typeface="Cambria" pitchFamily="34" charset="-120"/>
              </a:rPr>
              <a:t>From free-living recordings to model-ready windows</a:t>
            </a:r>
            <a:endParaRPr lang="en-US" sz="2800" dirty="0"/>
          </a:p>
        </p:txBody>
      </p:sp>
      <p:sp>
        <p:nvSpPr>
          <p:cNvPr id="7" name="Shape 4"/>
          <p:cNvSpPr/>
          <p:nvPr/>
        </p:nvSpPr>
        <p:spPr>
          <a:xfrm>
            <a:off x="502920" y="1737360"/>
            <a:ext cx="2331720" cy="1417320"/>
          </a:xfrm>
          <a:prstGeom prst="roundRect">
            <a:avLst>
              <a:gd name="adj" fmla="val 5161"/>
            </a:avLst>
          </a:prstGeom>
          <a:solidFill>
            <a:srgbClr val="F2F6FB"/>
          </a:solidFill>
          <a:ln/>
        </p:spPr>
      </p:sp>
      <p:sp>
        <p:nvSpPr>
          <p:cNvPr id="8" name="Text 5"/>
          <p:cNvSpPr/>
          <p:nvPr/>
        </p:nvSpPr>
        <p:spPr>
          <a:xfrm>
            <a:off x="612648" y="1828800"/>
            <a:ext cx="2112264" cy="548640"/>
          </a:xfrm>
          <a:prstGeom prst="rect">
            <a:avLst/>
          </a:prstGeom>
          <a:noFill/>
          <a:ln/>
        </p:spPr>
        <p:txBody>
          <a:bodyPr wrap="square" rtlCol="0" anchor="ctr"/>
          <a:lstStyle/>
          <a:p>
            <a:pPr algn="l" indent="0" marL="0">
              <a:buNone/>
            </a:pPr>
            <a:r>
              <a:rPr lang="en-US" sz="2200" b="1" dirty="0">
                <a:solidFill>
                  <a:srgbClr val="004E9A"/>
                </a:solidFill>
                <a:latin typeface="Cambria" pitchFamily="34" charset="0"/>
                <a:ea typeface="Cambria" pitchFamily="34" charset="-122"/>
                <a:cs typeface="Cambria" pitchFamily="34" charset="-120"/>
              </a:rPr>
              <a:t>30</a:t>
            </a:r>
            <a:endParaRPr lang="en-US" sz="2200" dirty="0"/>
          </a:p>
        </p:txBody>
      </p:sp>
      <p:sp>
        <p:nvSpPr>
          <p:cNvPr id="9" name="Text 6"/>
          <p:cNvSpPr/>
          <p:nvPr/>
        </p:nvSpPr>
        <p:spPr>
          <a:xfrm>
            <a:off x="612648" y="2359152"/>
            <a:ext cx="211226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participants, 58 free-living recordings</a:t>
            </a:r>
            <a:endParaRPr lang="en-US" sz="1050" dirty="0"/>
          </a:p>
        </p:txBody>
      </p:sp>
      <p:sp>
        <p:nvSpPr>
          <p:cNvPr id="10" name="Shape 7"/>
          <p:cNvSpPr/>
          <p:nvPr/>
        </p:nvSpPr>
        <p:spPr>
          <a:xfrm>
            <a:off x="3017520" y="1737360"/>
            <a:ext cx="2331720" cy="1417320"/>
          </a:xfrm>
          <a:prstGeom prst="roundRect">
            <a:avLst>
              <a:gd name="adj" fmla="val 5161"/>
            </a:avLst>
          </a:prstGeom>
          <a:solidFill>
            <a:srgbClr val="F2F6FB"/>
          </a:solidFill>
          <a:ln/>
        </p:spPr>
      </p:sp>
      <p:sp>
        <p:nvSpPr>
          <p:cNvPr id="11" name="Text 8"/>
          <p:cNvSpPr/>
          <p:nvPr/>
        </p:nvSpPr>
        <p:spPr>
          <a:xfrm>
            <a:off x="3127248" y="1828800"/>
            <a:ext cx="2112264" cy="548640"/>
          </a:xfrm>
          <a:prstGeom prst="rect">
            <a:avLst/>
          </a:prstGeom>
          <a:noFill/>
          <a:ln/>
        </p:spPr>
        <p:txBody>
          <a:bodyPr wrap="square" rtlCol="0" anchor="ctr"/>
          <a:lstStyle/>
          <a:p>
            <a:pPr algn="l" indent="0" marL="0">
              <a:buNone/>
            </a:pPr>
            <a:r>
              <a:rPr lang="en-US" sz="2200" b="1" dirty="0">
                <a:solidFill>
                  <a:srgbClr val="004E9A"/>
                </a:solidFill>
                <a:latin typeface="Cambria" pitchFamily="34" charset="0"/>
                <a:ea typeface="Cambria" pitchFamily="34" charset="-122"/>
                <a:cs typeface="Cambria" pitchFamily="34" charset="-120"/>
              </a:rPr>
              <a:t>250 Hz</a:t>
            </a:r>
            <a:endParaRPr lang="en-US" sz="2200" dirty="0"/>
          </a:p>
        </p:txBody>
      </p:sp>
      <p:sp>
        <p:nvSpPr>
          <p:cNvPr id="12" name="Text 9"/>
          <p:cNvSpPr/>
          <p:nvPr/>
        </p:nvSpPr>
        <p:spPr>
          <a:xfrm>
            <a:off x="3127248" y="2359152"/>
            <a:ext cx="211226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ECG sampling rate</a:t>
            </a:r>
            <a:endParaRPr lang="en-US" sz="1050" dirty="0"/>
          </a:p>
        </p:txBody>
      </p:sp>
      <p:sp>
        <p:nvSpPr>
          <p:cNvPr id="13" name="Shape 10"/>
          <p:cNvSpPr/>
          <p:nvPr/>
        </p:nvSpPr>
        <p:spPr>
          <a:xfrm>
            <a:off x="5532120" y="1737360"/>
            <a:ext cx="2331720" cy="1417320"/>
          </a:xfrm>
          <a:prstGeom prst="roundRect">
            <a:avLst>
              <a:gd name="adj" fmla="val 5161"/>
            </a:avLst>
          </a:prstGeom>
          <a:solidFill>
            <a:srgbClr val="F2F6FB"/>
          </a:solidFill>
          <a:ln/>
        </p:spPr>
      </p:sp>
      <p:sp>
        <p:nvSpPr>
          <p:cNvPr id="14" name="Text 11"/>
          <p:cNvSpPr/>
          <p:nvPr/>
        </p:nvSpPr>
        <p:spPr>
          <a:xfrm>
            <a:off x="5641848" y="1828800"/>
            <a:ext cx="2112264" cy="548640"/>
          </a:xfrm>
          <a:prstGeom prst="rect">
            <a:avLst/>
          </a:prstGeom>
          <a:noFill/>
          <a:ln/>
        </p:spPr>
        <p:txBody>
          <a:bodyPr wrap="square" rtlCol="0" anchor="ctr"/>
          <a:lstStyle/>
          <a:p>
            <a:pPr algn="l" indent="0" marL="0">
              <a:buNone/>
            </a:pPr>
            <a:r>
              <a:rPr lang="en-US" sz="2200" b="1" dirty="0">
                <a:solidFill>
                  <a:srgbClr val="004E9A"/>
                </a:solidFill>
                <a:latin typeface="Cambria" pitchFamily="34" charset="0"/>
                <a:ea typeface="Cambria" pitchFamily="34" charset="-122"/>
                <a:cs typeface="Cambria" pitchFamily="34" charset="-120"/>
              </a:rPr>
              <a:t>421,166</a:t>
            </a:r>
            <a:endParaRPr lang="en-US" sz="2200" dirty="0"/>
          </a:p>
        </p:txBody>
      </p:sp>
      <p:sp>
        <p:nvSpPr>
          <p:cNvPr id="15" name="Text 12"/>
          <p:cNvSpPr/>
          <p:nvPr/>
        </p:nvSpPr>
        <p:spPr>
          <a:xfrm>
            <a:off x="5641848" y="2359152"/>
            <a:ext cx="211226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labelled 10-second windows</a:t>
            </a:r>
            <a:endParaRPr lang="en-US" sz="1050" dirty="0"/>
          </a:p>
        </p:txBody>
      </p:sp>
      <p:sp>
        <p:nvSpPr>
          <p:cNvPr id="16" name="Text 13"/>
          <p:cNvSpPr/>
          <p:nvPr/>
        </p:nvSpPr>
        <p:spPr>
          <a:xfrm>
            <a:off x="502920" y="3291840"/>
            <a:ext cx="6949440" cy="1828800"/>
          </a:xfrm>
          <a:prstGeom prst="rect">
            <a:avLst/>
          </a:prstGeom>
          <a:noFill/>
          <a:ln/>
        </p:spPr>
        <p:txBody>
          <a:bodyPr wrap="square" rtlCol="0" anchor="t"/>
          <a:lstStyle/>
          <a:p>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The original plan was arrhythmia detection — but the data told a different story: the labels that actually existed were Wake and Sleep. The project pivoted, and every recording was band-pass filtered, then windowed with 50% overlap and matched to the nearest annotation within ±15 minutes. Splits are strict at the participant level — no leakage.</a:t>
            </a:r>
            <a:endParaRPr lang="en-US" sz="1300" dirty="0"/>
          </a:p>
        </p:txBody>
      </p:sp>
      <p:pic>
        <p:nvPicPr>
          <p:cNvPr id="17" name="Image 1" descr="/home/claude/work/figs/fig-000.png">    </p:cNvPr>
          <p:cNvPicPr>
            <a:picLocks noChangeAspect="1"/>
          </p:cNvPicPr>
          <p:nvPr/>
        </p:nvPicPr>
        <p:blipFill>
          <a:blip r:embed="rId2"/>
          <a:stretch>
            <a:fillRect/>
          </a:stretch>
        </p:blipFill>
        <p:spPr>
          <a:xfrm>
            <a:off x="7818120" y="1691640"/>
            <a:ext cx="3886200" cy="1371600"/>
          </a:xfrm>
          <a:prstGeom prst="rect">
            <a:avLst/>
          </a:prstGeom>
        </p:spPr>
      </p:pic>
      <p:pic>
        <p:nvPicPr>
          <p:cNvPr id="18" name="Image 2" descr="/home/claude/work/figs/fig-002.png">    </p:cNvPr>
          <p:cNvPicPr>
            <a:picLocks noChangeAspect="1"/>
          </p:cNvPicPr>
          <p:nvPr/>
        </p:nvPicPr>
        <p:blipFill>
          <a:blip r:embed="rId3"/>
          <a:stretch>
            <a:fillRect/>
          </a:stretch>
        </p:blipFill>
        <p:spPr>
          <a:xfrm>
            <a:off x="7818120" y="3200400"/>
            <a:ext cx="3886200" cy="1371600"/>
          </a:xfrm>
          <a:prstGeom prst="rect">
            <a:avLst/>
          </a:prstGeom>
        </p:spPr>
      </p:pic>
      <p:sp>
        <p:nvSpPr>
          <p:cNvPr id="19" name="Text 14"/>
          <p:cNvSpPr/>
          <p:nvPr/>
        </p:nvSpPr>
        <p:spPr>
          <a:xfrm>
            <a:off x="7818120" y="4617720"/>
            <a:ext cx="3931920" cy="365760"/>
          </a:xfrm>
          <a:prstGeom prst="rect">
            <a:avLst/>
          </a:prstGeom>
          <a:noFill/>
          <a:ln/>
        </p:spPr>
        <p:txBody>
          <a:bodyPr wrap="square" rtlCol="0" anchor="ctr"/>
          <a:lstStyle/>
          <a:p>
            <a:pPr indent="0" marL="0">
              <a:buNone/>
            </a:pPr>
            <a:r>
              <a:rPr lang="en-US" sz="1000" i="1" dirty="0">
                <a:solidFill>
                  <a:srgbClr val="5C6B7A"/>
                </a:solidFill>
                <a:latin typeface="Calibri" pitchFamily="34" charset="0"/>
                <a:ea typeface="Calibri" pitchFamily="34" charset="-122"/>
                <a:cs typeface="Calibri" pitchFamily="34" charset="-120"/>
              </a:rPr>
              <a:t>Raw ECG  →  filtered, windowed ECG (10 s, 2,500 samples)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05</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METHODOLOGY</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Two pathways, one signal</a:t>
            </a:r>
            <a:endParaRPr lang="en-US" sz="3200" dirty="0"/>
          </a:p>
        </p:txBody>
      </p:sp>
      <p:sp>
        <p:nvSpPr>
          <p:cNvPr id="7" name="Shape 4"/>
          <p:cNvSpPr/>
          <p:nvPr/>
        </p:nvSpPr>
        <p:spPr>
          <a:xfrm>
            <a:off x="502920" y="1737360"/>
            <a:ext cx="5394960" cy="1965960"/>
          </a:xfrm>
          <a:prstGeom prst="roundRect">
            <a:avLst>
              <a:gd name="adj" fmla="val 4651"/>
            </a:avLst>
          </a:prstGeom>
          <a:solidFill>
            <a:srgbClr val="F2F6FB"/>
          </a:solidFill>
          <a:ln/>
        </p:spPr>
      </p:sp>
      <p:sp>
        <p:nvSpPr>
          <p:cNvPr id="8" name="Shape 5"/>
          <p:cNvSpPr/>
          <p:nvPr/>
        </p:nvSpPr>
        <p:spPr>
          <a:xfrm>
            <a:off x="777240" y="1965960"/>
            <a:ext cx="457200" cy="457200"/>
          </a:xfrm>
          <a:prstGeom prst="ellipse">
            <a:avLst/>
          </a:prstGeom>
          <a:solidFill>
            <a:srgbClr val="F2F6FB"/>
          </a:solidFill>
          <a:ln w="15875">
            <a:solidFill>
              <a:srgbClr val="004E9A"/>
            </a:solidFill>
            <a:prstDash val="solid"/>
          </a:ln>
        </p:spPr>
      </p:sp>
      <p:sp>
        <p:nvSpPr>
          <p:cNvPr id="9" name="Text 6"/>
          <p:cNvSpPr/>
          <p:nvPr/>
        </p:nvSpPr>
        <p:spPr>
          <a:xfrm>
            <a:off x="777240" y="1965960"/>
            <a:ext cx="457200" cy="457200"/>
          </a:xfrm>
          <a:prstGeom prst="rect">
            <a:avLst/>
          </a:prstGeom>
          <a:noFill/>
          <a:ln/>
        </p:spPr>
        <p:txBody>
          <a:bodyPr wrap="square" rtlCol="0" anchor="ctr"/>
          <a:lstStyle/>
          <a:p>
            <a:pPr algn="ctr" indent="0" marL="0">
              <a:buNone/>
            </a:pPr>
            <a:r>
              <a:rPr lang="en-US" sz="1600" b="1" dirty="0">
                <a:solidFill>
                  <a:srgbClr val="004E9A"/>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417320" y="1965960"/>
            <a:ext cx="4206240" cy="457200"/>
          </a:xfrm>
          <a:prstGeom prst="rect">
            <a:avLst/>
          </a:prstGeom>
          <a:noFill/>
          <a:ln/>
        </p:spPr>
        <p:txBody>
          <a:bodyPr wrap="square" rtlCol="0" anchor="ctr"/>
          <a:lstStyle/>
          <a:p>
            <a:pPr indent="0" marL="0">
              <a:buNone/>
            </a:pPr>
            <a:r>
              <a:rPr lang="en-US" sz="1700" b="1" dirty="0">
                <a:solidFill>
                  <a:srgbClr val="1B2733"/>
                </a:solidFill>
                <a:latin typeface="Cambria" pitchFamily="34" charset="0"/>
                <a:ea typeface="Cambria" pitchFamily="34" charset="-122"/>
                <a:cs typeface="Cambria" pitchFamily="34" charset="-120"/>
              </a:rPr>
              <a:t>Feature-based ML</a:t>
            </a:r>
            <a:endParaRPr lang="en-US" sz="1700" dirty="0"/>
          </a:p>
        </p:txBody>
      </p:sp>
      <p:sp>
        <p:nvSpPr>
          <p:cNvPr id="11" name="Text 8"/>
          <p:cNvSpPr/>
          <p:nvPr/>
        </p:nvSpPr>
        <p:spPr>
          <a:xfrm>
            <a:off x="777240" y="2514600"/>
            <a:ext cx="4846320" cy="1051560"/>
          </a:xfrm>
          <a:prstGeom prst="rect">
            <a:avLst/>
          </a:prstGeom>
          <a:noFill/>
          <a:ln/>
        </p:spPr>
        <p:txBody>
          <a:bodyPr wrap="square" rtlCol="0" anchor="ctr"/>
          <a:lstStyle/>
          <a:p>
            <a:pPr indent="0" marL="0">
              <a:lnSpc>
                <a:spcPct val="130000"/>
              </a:lnSpc>
              <a:buNone/>
            </a:pPr>
            <a:r>
              <a:rPr lang="en-US" sz="1300" dirty="0">
                <a:solidFill>
                  <a:srgbClr val="5C6B7A"/>
                </a:solidFill>
                <a:latin typeface="Calibri" pitchFamily="34" charset="0"/>
                <a:ea typeface="Calibri" pitchFamily="34" charset="-122"/>
                <a:cs typeface="Calibri" pitchFamily="34" charset="-120"/>
              </a:rPr>
              <a:t>9 hand-crafted statistics (mean, energy, RMS...) → Logistic Regression &amp; Linear SVM</a:t>
            </a:r>
            <a:endParaRPr lang="en-US" sz="1300" dirty="0"/>
          </a:p>
        </p:txBody>
      </p:sp>
      <p:sp>
        <p:nvSpPr>
          <p:cNvPr id="12" name="Shape 9"/>
          <p:cNvSpPr/>
          <p:nvPr/>
        </p:nvSpPr>
        <p:spPr>
          <a:xfrm>
            <a:off x="6172200" y="1737360"/>
            <a:ext cx="5394960" cy="1965960"/>
          </a:xfrm>
          <a:prstGeom prst="roundRect">
            <a:avLst>
              <a:gd name="adj" fmla="val 4651"/>
            </a:avLst>
          </a:prstGeom>
          <a:solidFill>
            <a:srgbClr val="004E9A"/>
          </a:solidFill>
          <a:ln/>
        </p:spPr>
      </p:sp>
      <p:sp>
        <p:nvSpPr>
          <p:cNvPr id="13" name="Shape 10"/>
          <p:cNvSpPr/>
          <p:nvPr/>
        </p:nvSpPr>
        <p:spPr>
          <a:xfrm>
            <a:off x="6446520" y="1965960"/>
            <a:ext cx="457200" cy="457200"/>
          </a:xfrm>
          <a:prstGeom prst="ellipse">
            <a:avLst/>
          </a:prstGeom>
          <a:solidFill>
            <a:srgbClr val="12406E"/>
          </a:solidFill>
          <a:ln w="15875">
            <a:solidFill>
              <a:srgbClr val="004E9A"/>
            </a:solidFill>
            <a:prstDash val="solid"/>
          </a:ln>
        </p:spPr>
      </p:sp>
      <p:sp>
        <p:nvSpPr>
          <p:cNvPr id="14" name="Text 11"/>
          <p:cNvSpPr/>
          <p:nvPr/>
        </p:nvSpPr>
        <p:spPr>
          <a:xfrm>
            <a:off x="644652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7086600" y="1965960"/>
            <a:ext cx="42062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Waveform-based DL</a:t>
            </a:r>
            <a:endParaRPr lang="en-US" sz="1700" dirty="0"/>
          </a:p>
        </p:txBody>
      </p:sp>
      <p:sp>
        <p:nvSpPr>
          <p:cNvPr id="16" name="Text 13"/>
          <p:cNvSpPr/>
          <p:nvPr/>
        </p:nvSpPr>
        <p:spPr>
          <a:xfrm>
            <a:off x="6446520" y="2514600"/>
            <a:ext cx="4846320" cy="1051560"/>
          </a:xfrm>
          <a:prstGeom prst="rect">
            <a:avLst/>
          </a:prstGeom>
          <a:noFill/>
          <a:ln/>
        </p:spPr>
        <p:txBody>
          <a:bodyPr wrap="square" rtlCol="0" anchor="ctr"/>
          <a:lstStyle/>
          <a:p>
            <a:pPr indent="0" marL="0">
              <a:lnSpc>
                <a:spcPct val="130000"/>
              </a:lnSpc>
              <a:buNone/>
            </a:pPr>
            <a:r>
              <a:rPr lang="en-US" sz="1300" dirty="0">
                <a:solidFill>
                  <a:srgbClr val="D7E6F5"/>
                </a:solidFill>
                <a:latin typeface="Calibri" pitchFamily="34" charset="0"/>
                <a:ea typeface="Calibri" pitchFamily="34" charset="-122"/>
                <a:cs typeface="Calibri" pitchFamily="34" charset="-120"/>
              </a:rPr>
              <a:t>Full 2,500-sample waveform → compact CNN &amp; LSTM, learning their own representation</a:t>
            </a:r>
            <a:endParaRPr lang="en-US" sz="1300" dirty="0"/>
          </a:p>
        </p:txBody>
      </p:sp>
      <p:sp>
        <p:nvSpPr>
          <p:cNvPr id="17" name="Text 14"/>
          <p:cNvSpPr/>
          <p:nvPr/>
        </p:nvSpPr>
        <p:spPr>
          <a:xfrm>
            <a:off x="502920" y="3886200"/>
            <a:ext cx="11155680" cy="365760"/>
          </a:xfrm>
          <a:prstGeom prst="rect">
            <a:avLst/>
          </a:prstGeom>
          <a:noFill/>
          <a:ln/>
        </p:spPr>
        <p:txBody>
          <a:bodyPr wrap="square" rtlCol="0" anchor="ctr"/>
          <a:lstStyle/>
          <a:p>
            <a:pPr indent="0" marL="0">
              <a:buNone/>
            </a:pPr>
            <a:r>
              <a:rPr lang="en-US" sz="1300" i="1" dirty="0">
                <a:solidFill>
                  <a:srgbClr val="5C6B7A"/>
                </a:solidFill>
                <a:latin typeface="Calibri" pitchFamily="34" charset="0"/>
                <a:ea typeface="Calibri" pitchFamily="34" charset="-122"/>
                <a:cs typeface="Calibri" pitchFamily="34" charset="-120"/>
              </a:rPr>
              <a:t>Same participant-level splits. Same evaluation. Only the representation differs.</a:t>
            </a:r>
            <a:endParaRPr lang="en-US" sz="1300" dirty="0"/>
          </a:p>
        </p:txBody>
      </p:sp>
      <p:sp>
        <p:nvSpPr>
          <p:cNvPr id="18" name="Text 15"/>
          <p:cNvSpPr/>
          <p:nvPr/>
        </p:nvSpPr>
        <p:spPr>
          <a:xfrm>
            <a:off x="502920" y="4434840"/>
            <a:ext cx="3657600" cy="274320"/>
          </a:xfrm>
          <a:prstGeom prst="rect">
            <a:avLst/>
          </a:prstGeom>
          <a:noFill/>
          <a:ln/>
        </p:spPr>
        <p:txBody>
          <a:bodyPr wrap="square" rtlCol="0" anchor="ctr"/>
          <a:lstStyle/>
          <a:p>
            <a:pPr indent="0" marL="0">
              <a:buNone/>
            </a:pPr>
            <a:r>
              <a:rPr lang="en-US" sz="1100" b="1" spc="200" kern="0" dirty="0">
                <a:solidFill>
                  <a:srgbClr val="004E9A"/>
                </a:solidFill>
                <a:latin typeface="Calibri" pitchFamily="34" charset="0"/>
                <a:ea typeface="Calibri" pitchFamily="34" charset="-122"/>
                <a:cs typeface="Calibri" pitchFamily="34" charset="-120"/>
              </a:rPr>
              <a:t>BUILT WITH</a:t>
            </a:r>
            <a:endParaRPr lang="en-US" sz="1100" dirty="0"/>
          </a:p>
        </p:txBody>
      </p:sp>
      <p:sp>
        <p:nvSpPr>
          <p:cNvPr id="19" name="Shape 16"/>
          <p:cNvSpPr/>
          <p:nvPr/>
        </p:nvSpPr>
        <p:spPr>
          <a:xfrm>
            <a:off x="502920" y="4800600"/>
            <a:ext cx="923544" cy="502920"/>
          </a:xfrm>
          <a:prstGeom prst="roundRect">
            <a:avLst>
              <a:gd name="adj" fmla="val 49091"/>
            </a:avLst>
          </a:prstGeom>
          <a:solidFill>
            <a:srgbClr val="F2F6FB"/>
          </a:solidFill>
          <a:ln w="12700">
            <a:solidFill>
              <a:srgbClr val="D7E1EC"/>
            </a:solidFill>
            <a:prstDash val="solid"/>
          </a:ln>
        </p:spPr>
      </p:sp>
      <p:sp>
        <p:nvSpPr>
          <p:cNvPr id="20" name="Text 17"/>
          <p:cNvSpPr/>
          <p:nvPr/>
        </p:nvSpPr>
        <p:spPr>
          <a:xfrm>
            <a:off x="502920" y="4800600"/>
            <a:ext cx="923544" cy="502920"/>
          </a:xfrm>
          <a:prstGeom prst="rect">
            <a:avLst/>
          </a:prstGeom>
          <a:noFill/>
          <a:ln/>
        </p:spPr>
        <p:txBody>
          <a:bodyPr wrap="square" rtlCol="0" anchor="ctr"/>
          <a:lstStyle/>
          <a:p>
            <a:pPr algn="ctr" indent="0" marL="0">
              <a:buNone/>
            </a:pPr>
            <a:r>
              <a:rPr lang="en-US" sz="1200" b="1" dirty="0">
                <a:solidFill>
                  <a:srgbClr val="004E9A"/>
                </a:solidFill>
                <a:latin typeface="Calibri" pitchFamily="34" charset="0"/>
                <a:ea typeface="Calibri" pitchFamily="34" charset="-122"/>
                <a:cs typeface="Calibri" pitchFamily="34" charset="-120"/>
              </a:rPr>
              <a:t>Python</a:t>
            </a:r>
            <a:endParaRPr lang="en-US" sz="1200" dirty="0"/>
          </a:p>
        </p:txBody>
      </p:sp>
      <p:sp>
        <p:nvSpPr>
          <p:cNvPr id="21" name="Shape 18"/>
          <p:cNvSpPr/>
          <p:nvPr/>
        </p:nvSpPr>
        <p:spPr>
          <a:xfrm>
            <a:off x="1627632" y="4800600"/>
            <a:ext cx="1627632" cy="502920"/>
          </a:xfrm>
          <a:prstGeom prst="roundRect">
            <a:avLst>
              <a:gd name="adj" fmla="val 49091"/>
            </a:avLst>
          </a:prstGeom>
          <a:solidFill>
            <a:srgbClr val="F2F6FB"/>
          </a:solidFill>
          <a:ln w="12700">
            <a:solidFill>
              <a:srgbClr val="D7E1EC"/>
            </a:solidFill>
            <a:prstDash val="solid"/>
          </a:ln>
        </p:spPr>
      </p:sp>
      <p:sp>
        <p:nvSpPr>
          <p:cNvPr id="22" name="Text 19"/>
          <p:cNvSpPr/>
          <p:nvPr/>
        </p:nvSpPr>
        <p:spPr>
          <a:xfrm>
            <a:off x="1627632" y="4800600"/>
            <a:ext cx="1627632" cy="502920"/>
          </a:xfrm>
          <a:prstGeom prst="rect">
            <a:avLst/>
          </a:prstGeom>
          <a:noFill/>
          <a:ln/>
        </p:spPr>
        <p:txBody>
          <a:bodyPr wrap="square" rtlCol="0" anchor="ctr"/>
          <a:lstStyle/>
          <a:p>
            <a:pPr algn="ctr" indent="0" marL="0">
              <a:buNone/>
            </a:pPr>
            <a:r>
              <a:rPr lang="en-US" sz="1200" b="1" dirty="0">
                <a:solidFill>
                  <a:srgbClr val="004E9A"/>
                </a:solidFill>
                <a:latin typeface="Calibri" pitchFamily="34" charset="0"/>
                <a:ea typeface="Calibri" pitchFamily="34" charset="-122"/>
                <a:cs typeface="Calibri" pitchFamily="34" charset="-120"/>
              </a:rPr>
              <a:t>NumPy / SciPy</a:t>
            </a:r>
            <a:endParaRPr lang="en-US" sz="1200" dirty="0"/>
          </a:p>
        </p:txBody>
      </p:sp>
      <p:sp>
        <p:nvSpPr>
          <p:cNvPr id="23" name="Shape 20"/>
          <p:cNvSpPr/>
          <p:nvPr/>
        </p:nvSpPr>
        <p:spPr>
          <a:xfrm>
            <a:off x="3456432" y="4800600"/>
            <a:ext cx="1325880" cy="502920"/>
          </a:xfrm>
          <a:prstGeom prst="roundRect">
            <a:avLst>
              <a:gd name="adj" fmla="val 49091"/>
            </a:avLst>
          </a:prstGeom>
          <a:solidFill>
            <a:srgbClr val="F2F6FB"/>
          </a:solidFill>
          <a:ln w="12700">
            <a:solidFill>
              <a:srgbClr val="D7E1EC"/>
            </a:solidFill>
            <a:prstDash val="solid"/>
          </a:ln>
        </p:spPr>
      </p:sp>
      <p:sp>
        <p:nvSpPr>
          <p:cNvPr id="24" name="Text 21"/>
          <p:cNvSpPr/>
          <p:nvPr/>
        </p:nvSpPr>
        <p:spPr>
          <a:xfrm>
            <a:off x="3456432" y="4800600"/>
            <a:ext cx="1325880" cy="502920"/>
          </a:xfrm>
          <a:prstGeom prst="rect">
            <a:avLst/>
          </a:prstGeom>
          <a:noFill/>
          <a:ln/>
        </p:spPr>
        <p:txBody>
          <a:bodyPr wrap="square" rtlCol="0" anchor="ctr"/>
          <a:lstStyle/>
          <a:p>
            <a:pPr algn="ctr" indent="0" marL="0">
              <a:buNone/>
            </a:pPr>
            <a:r>
              <a:rPr lang="en-US" sz="1200" b="1" dirty="0">
                <a:solidFill>
                  <a:srgbClr val="004E9A"/>
                </a:solidFill>
                <a:latin typeface="Calibri" pitchFamily="34" charset="0"/>
                <a:ea typeface="Calibri" pitchFamily="34" charset="-122"/>
                <a:cs typeface="Calibri" pitchFamily="34" charset="-120"/>
              </a:rPr>
              <a:t>TensorFlow</a:t>
            </a:r>
            <a:endParaRPr lang="en-US" sz="1200" dirty="0"/>
          </a:p>
        </p:txBody>
      </p:sp>
      <p:sp>
        <p:nvSpPr>
          <p:cNvPr id="25" name="Shape 22"/>
          <p:cNvSpPr/>
          <p:nvPr/>
        </p:nvSpPr>
        <p:spPr>
          <a:xfrm>
            <a:off x="4983480" y="4800600"/>
            <a:ext cx="1527048" cy="502920"/>
          </a:xfrm>
          <a:prstGeom prst="roundRect">
            <a:avLst>
              <a:gd name="adj" fmla="val 49091"/>
            </a:avLst>
          </a:prstGeom>
          <a:solidFill>
            <a:srgbClr val="F2F6FB"/>
          </a:solidFill>
          <a:ln w="12700">
            <a:solidFill>
              <a:srgbClr val="D7E1EC"/>
            </a:solidFill>
            <a:prstDash val="solid"/>
          </a:ln>
        </p:spPr>
      </p:sp>
      <p:sp>
        <p:nvSpPr>
          <p:cNvPr id="26" name="Text 23"/>
          <p:cNvSpPr/>
          <p:nvPr/>
        </p:nvSpPr>
        <p:spPr>
          <a:xfrm>
            <a:off x="4983480" y="4800600"/>
            <a:ext cx="1527048" cy="502920"/>
          </a:xfrm>
          <a:prstGeom prst="rect">
            <a:avLst/>
          </a:prstGeom>
          <a:noFill/>
          <a:ln/>
        </p:spPr>
        <p:txBody>
          <a:bodyPr wrap="square" rtlCol="0" anchor="ctr"/>
          <a:lstStyle/>
          <a:p>
            <a:pPr algn="ctr" indent="0" marL="0">
              <a:buNone/>
            </a:pPr>
            <a:r>
              <a:rPr lang="en-US" sz="1200" b="1" dirty="0">
                <a:solidFill>
                  <a:srgbClr val="004E9A"/>
                </a:solidFill>
                <a:latin typeface="Calibri" pitchFamily="34" charset="0"/>
                <a:ea typeface="Calibri" pitchFamily="34" charset="-122"/>
                <a:cs typeface="Calibri" pitchFamily="34" charset="-120"/>
              </a:rPr>
              <a:t>scikit-learn</a:t>
            </a:r>
            <a:endParaRPr lang="en-US" sz="1200" dirty="0"/>
          </a:p>
        </p:txBody>
      </p:sp>
      <p:sp>
        <p:nvSpPr>
          <p:cNvPr id="27" name="Shape 24"/>
          <p:cNvSpPr/>
          <p:nvPr/>
        </p:nvSpPr>
        <p:spPr>
          <a:xfrm>
            <a:off x="6711696" y="4800600"/>
            <a:ext cx="1024128" cy="502920"/>
          </a:xfrm>
          <a:prstGeom prst="roundRect">
            <a:avLst>
              <a:gd name="adj" fmla="val 49091"/>
            </a:avLst>
          </a:prstGeom>
          <a:solidFill>
            <a:srgbClr val="F2F6FB"/>
          </a:solidFill>
          <a:ln w="12700">
            <a:solidFill>
              <a:srgbClr val="D7E1EC"/>
            </a:solidFill>
            <a:prstDash val="solid"/>
          </a:ln>
        </p:spPr>
      </p:sp>
      <p:sp>
        <p:nvSpPr>
          <p:cNvPr id="28" name="Text 25"/>
          <p:cNvSpPr/>
          <p:nvPr/>
        </p:nvSpPr>
        <p:spPr>
          <a:xfrm>
            <a:off x="6711696" y="4800600"/>
            <a:ext cx="1024128" cy="502920"/>
          </a:xfrm>
          <a:prstGeom prst="rect">
            <a:avLst/>
          </a:prstGeom>
          <a:noFill/>
          <a:ln/>
        </p:spPr>
        <p:txBody>
          <a:bodyPr wrap="square" rtlCol="0" anchor="ctr"/>
          <a:lstStyle/>
          <a:p>
            <a:pPr algn="ctr" indent="0" marL="0">
              <a:buNone/>
            </a:pPr>
            <a:r>
              <a:rPr lang="en-US" sz="1200" b="1" dirty="0">
                <a:solidFill>
                  <a:srgbClr val="004E9A"/>
                </a:solidFill>
                <a:latin typeface="Calibri" pitchFamily="34" charset="0"/>
                <a:ea typeface="Calibri" pitchFamily="34" charset="-122"/>
                <a:cs typeface="Calibri" pitchFamily="34" charset="-120"/>
              </a:rPr>
              <a:t>Jupyter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06</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DEMONSTRATION</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2800" b="1" dirty="0">
                <a:solidFill>
                  <a:srgbClr val="1B2733"/>
                </a:solidFill>
                <a:latin typeface="Cambria" pitchFamily="34" charset="0"/>
                <a:ea typeface="Cambria" pitchFamily="34" charset="-122"/>
                <a:cs typeface="Cambria" pitchFamily="34" charset="-120"/>
              </a:rPr>
              <a:t>From noisy signal to model-ready input</a:t>
            </a:r>
            <a:endParaRPr lang="en-US" sz="2800" dirty="0"/>
          </a:p>
        </p:txBody>
      </p:sp>
      <p:pic>
        <p:nvPicPr>
          <p:cNvPr id="7" name="Image 1" descr="/home/claude/work/figs/fig-001.png">    </p:cNvPr>
          <p:cNvPicPr>
            <a:picLocks noChangeAspect="1"/>
          </p:cNvPicPr>
          <p:nvPr/>
        </p:nvPicPr>
        <p:blipFill>
          <a:blip r:embed="rId2"/>
          <a:stretch>
            <a:fillRect/>
          </a:stretch>
        </p:blipFill>
        <p:spPr>
          <a:xfrm>
            <a:off x="502920" y="1737360"/>
            <a:ext cx="7040880" cy="2999232"/>
          </a:xfrm>
          <a:prstGeom prst="rect">
            <a:avLst/>
          </a:prstGeom>
        </p:spPr>
      </p:pic>
      <p:sp>
        <p:nvSpPr>
          <p:cNvPr id="8" name="Shape 4"/>
          <p:cNvSpPr/>
          <p:nvPr/>
        </p:nvSpPr>
        <p:spPr>
          <a:xfrm>
            <a:off x="7818120" y="1737360"/>
            <a:ext cx="3886200" cy="2999232"/>
          </a:xfrm>
          <a:prstGeom prst="roundRect">
            <a:avLst>
              <a:gd name="adj" fmla="val 3049"/>
            </a:avLst>
          </a:prstGeom>
          <a:solidFill>
            <a:srgbClr val="F2F6FB"/>
          </a:solidFill>
          <a:ln/>
        </p:spPr>
      </p:sp>
      <p:sp>
        <p:nvSpPr>
          <p:cNvPr id="9" name="Text 5"/>
          <p:cNvSpPr/>
          <p:nvPr/>
        </p:nvSpPr>
        <p:spPr>
          <a:xfrm>
            <a:off x="8092440" y="1965960"/>
            <a:ext cx="3383280" cy="274320"/>
          </a:xfrm>
          <a:prstGeom prst="rect">
            <a:avLst/>
          </a:prstGeom>
          <a:noFill/>
          <a:ln/>
        </p:spPr>
        <p:txBody>
          <a:bodyPr wrap="square" rtlCol="0" anchor="ctr"/>
          <a:lstStyle/>
          <a:p>
            <a:pPr indent="0" marL="0">
              <a:buNone/>
            </a:pPr>
            <a:r>
              <a:rPr lang="en-US" sz="1050" b="1" spc="150" kern="0" dirty="0">
                <a:solidFill>
                  <a:srgbClr val="004E9A"/>
                </a:solidFill>
                <a:latin typeface="Calibri" pitchFamily="34" charset="0"/>
                <a:ea typeface="Calibri" pitchFamily="34" charset="-122"/>
                <a:cs typeface="Calibri" pitchFamily="34" charset="-120"/>
              </a:rPr>
              <a:t>WHAT YOU'RE SEEING</a:t>
            </a:r>
            <a:endParaRPr lang="en-US" sz="1050" dirty="0"/>
          </a:p>
        </p:txBody>
      </p:sp>
      <p:sp>
        <p:nvSpPr>
          <p:cNvPr id="10" name="Text 6"/>
          <p:cNvSpPr/>
          <p:nvPr/>
        </p:nvSpPr>
        <p:spPr>
          <a:xfrm>
            <a:off x="8092440" y="2331720"/>
            <a:ext cx="3383280" cy="2286000"/>
          </a:xfrm>
          <a:prstGeom prst="rect">
            <a:avLst/>
          </a:prstGeom>
          <a:noFill/>
          <a:ln/>
        </p:spPr>
        <p:txBody>
          <a:bodyPr wrap="square" rtlCol="0" anchor="t"/>
          <a:lstStyle/>
          <a:p>
            <a:pPr indent="0" marL="0">
              <a:lnSpc>
                <a:spcPct val="130000"/>
              </a:lnSpc>
              <a:buNone/>
            </a:pPr>
            <a:r>
              <a:rPr lang="en-US" sz="1250" dirty="0">
                <a:solidFill>
                  <a:srgbClr val="1B2733"/>
                </a:solidFill>
                <a:latin typeface="Calibri" pitchFamily="34" charset="0"/>
                <a:ea typeface="Calibri" pitchFamily="34" charset="-122"/>
                <a:cs typeface="Calibri" pitchFamily="34" charset="-120"/>
              </a:rPr>
              <a:t>Blue: the raw ECG trace — drifting baseline, noisy.</a:t>
            </a:r>
            <a:endParaRPr lang="en-US" sz="1250" dirty="0"/>
          </a:p>
          <a:p>
            <a:pPr indent="0" marL="0">
              <a:lnSpc>
                <a:spcPct val="130000"/>
              </a:lnSpc>
              <a:buNone/>
            </a:pPr>
            <a:endParaRPr lang="en-US" sz="1250" dirty="0"/>
          </a:p>
          <a:p>
            <a:pPr indent="0" marL="0">
              <a:lnSpc>
                <a:spcPct val="130000"/>
              </a:lnSpc>
              <a:buNone/>
            </a:pPr>
            <a:r>
              <a:rPr lang="en-US" sz="1250" dirty="0">
                <a:solidFill>
                  <a:srgbClr val="1B2733"/>
                </a:solidFill>
                <a:latin typeface="Calibri" pitchFamily="34" charset="0"/>
                <a:ea typeface="Calibri" pitchFamily="34" charset="-122"/>
                <a:cs typeface="Calibri" pitchFamily="34" charset="-120"/>
              </a:rPr>
              <a:t>Orange: after the 0.5–40 Hz Butterworth filter — clean, stable, ready for windowing.</a:t>
            </a:r>
            <a:endParaRPr lang="en-US" sz="1250" dirty="0"/>
          </a:p>
          <a:p>
            <a:pPr indent="0" marL="0">
              <a:lnSpc>
                <a:spcPct val="130000"/>
              </a:lnSpc>
              <a:buNone/>
            </a:pPr>
            <a:endParaRPr lang="en-US" sz="1250" dirty="0"/>
          </a:p>
          <a:p>
            <a:pPr indent="0" marL="0">
              <a:lnSpc>
                <a:spcPct val="130000"/>
              </a:lnSpc>
              <a:buNone/>
            </a:pPr>
            <a:r>
              <a:rPr lang="en-US" sz="1250" dirty="0">
                <a:solidFill>
                  <a:srgbClr val="1B2733"/>
                </a:solidFill>
                <a:latin typeface="Calibri" pitchFamily="34" charset="0"/>
                <a:ea typeface="Calibri" pitchFamily="34" charset="-122"/>
                <a:cs typeface="Calibri" pitchFamily="34" charset="-120"/>
              </a:rPr>
              <a:t>The CNN learns directly from this waveform. No hand-crafted features. No shortcuts.</a:t>
            </a:r>
            <a:endParaRPr lang="en-US" sz="1250" dirty="0"/>
          </a:p>
        </p:txBody>
      </p:sp>
      <p:sp>
        <p:nvSpPr>
          <p:cNvPr id="11" name="Text 7"/>
          <p:cNvSpPr/>
          <p:nvPr/>
        </p:nvSpPr>
        <p:spPr>
          <a:xfrm>
            <a:off x="502920" y="4846320"/>
            <a:ext cx="7315200" cy="320040"/>
          </a:xfrm>
          <a:prstGeom prst="rect">
            <a:avLst/>
          </a:prstGeom>
          <a:noFill/>
          <a:ln/>
        </p:spPr>
        <p:txBody>
          <a:bodyPr wrap="square" rtlCol="0" anchor="ctr"/>
          <a:lstStyle/>
          <a:p>
            <a:pPr indent="0" marL="0">
              <a:buNone/>
            </a:pPr>
            <a:r>
              <a:rPr lang="en-US" sz="1100" i="1" dirty="0">
                <a:solidFill>
                  <a:srgbClr val="5C6B7A"/>
                </a:solidFill>
                <a:latin typeface="Calibri" pitchFamily="34" charset="0"/>
                <a:ea typeface="Calibri" pitchFamily="34" charset="-122"/>
                <a:cs typeface="Calibri" pitchFamily="34" charset="-120"/>
              </a:rPr>
              <a:t>Live notebook walkthrough — preprocessing pipeline, Notebooks 1–2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07</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RESULTS — BASELINE COMPARISON</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The waveform wins, decisively</a:t>
            </a:r>
            <a:endParaRPr lang="en-US" sz="3200" dirty="0"/>
          </a:p>
        </p:txBody>
      </p:sp>
      <p:graphicFrame>
        <p:nvGraphicFramePr>
          <p:cNvPr id="7" name="Chart 0" descr=""/>
          <p:cNvGraphicFramePr/>
          <p:nvPr/>
        </p:nvGraphicFramePr>
        <p:xfrm>
          <a:off x="502920" y="1691640"/>
          <a:ext cx="6675120" cy="36576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498080" y="1691640"/>
            <a:ext cx="4160520" cy="1234440"/>
          </a:xfrm>
          <a:prstGeom prst="roundRect">
            <a:avLst>
              <a:gd name="adj" fmla="val 5926"/>
            </a:avLst>
          </a:prstGeom>
          <a:solidFill>
            <a:srgbClr val="F2F6FB"/>
          </a:solidFill>
          <a:ln/>
        </p:spPr>
      </p:sp>
      <p:sp>
        <p:nvSpPr>
          <p:cNvPr id="9" name="Text 5"/>
          <p:cNvSpPr/>
          <p:nvPr/>
        </p:nvSpPr>
        <p:spPr>
          <a:xfrm>
            <a:off x="7607808" y="1783080"/>
            <a:ext cx="3941064" cy="548640"/>
          </a:xfrm>
          <a:prstGeom prst="rect">
            <a:avLst/>
          </a:prstGeom>
          <a:noFill/>
          <a:ln/>
        </p:spPr>
        <p:txBody>
          <a:bodyPr wrap="square" rtlCol="0" anchor="ctr"/>
          <a:lstStyle/>
          <a:p>
            <a:pPr algn="l" indent="0" marL="0">
              <a:buNone/>
            </a:pPr>
            <a:r>
              <a:rPr lang="en-US" sz="3000" b="1" dirty="0">
                <a:solidFill>
                  <a:srgbClr val="E4572E"/>
                </a:solidFill>
                <a:latin typeface="Cambria" pitchFamily="34" charset="0"/>
                <a:ea typeface="Cambria" pitchFamily="34" charset="-122"/>
                <a:cs typeface="Cambria" pitchFamily="34" charset="-120"/>
              </a:rPr>
              <a:t>0.7932</a:t>
            </a:r>
            <a:endParaRPr lang="en-US" sz="3000" dirty="0"/>
          </a:p>
        </p:txBody>
      </p:sp>
      <p:sp>
        <p:nvSpPr>
          <p:cNvPr id="10" name="Text 6"/>
          <p:cNvSpPr/>
          <p:nvPr/>
        </p:nvSpPr>
        <p:spPr>
          <a:xfrm>
            <a:off x="7607808" y="2313432"/>
            <a:ext cx="394106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CNN validation F1-score — strongest of all four models</a:t>
            </a:r>
            <a:endParaRPr lang="en-US" sz="1050" dirty="0"/>
          </a:p>
        </p:txBody>
      </p:sp>
      <p:sp>
        <p:nvSpPr>
          <p:cNvPr id="11" name="Shape 7"/>
          <p:cNvSpPr/>
          <p:nvPr/>
        </p:nvSpPr>
        <p:spPr>
          <a:xfrm>
            <a:off x="7498080" y="3063240"/>
            <a:ext cx="4160520" cy="1234440"/>
          </a:xfrm>
          <a:prstGeom prst="roundRect">
            <a:avLst>
              <a:gd name="adj" fmla="val 5926"/>
            </a:avLst>
          </a:prstGeom>
          <a:solidFill>
            <a:srgbClr val="F2F6FB"/>
          </a:solidFill>
          <a:ln/>
        </p:spPr>
      </p:sp>
      <p:sp>
        <p:nvSpPr>
          <p:cNvPr id="12" name="Text 8"/>
          <p:cNvSpPr/>
          <p:nvPr/>
        </p:nvSpPr>
        <p:spPr>
          <a:xfrm>
            <a:off x="7607808" y="3154680"/>
            <a:ext cx="3941064" cy="548640"/>
          </a:xfrm>
          <a:prstGeom prst="rect">
            <a:avLst/>
          </a:prstGeom>
          <a:noFill/>
          <a:ln/>
        </p:spPr>
        <p:txBody>
          <a:bodyPr wrap="square" rtlCol="0" anchor="ctr"/>
          <a:lstStyle/>
          <a:p>
            <a:pPr algn="l" indent="0" marL="0">
              <a:buNone/>
            </a:pPr>
            <a:r>
              <a:rPr lang="en-US" sz="2600" b="1" dirty="0">
                <a:solidFill>
                  <a:srgbClr val="004E9A"/>
                </a:solidFill>
                <a:latin typeface="Cambria" pitchFamily="34" charset="0"/>
                <a:ea typeface="Cambria" pitchFamily="34" charset="-122"/>
                <a:cs typeface="Cambria" pitchFamily="34" charset="-120"/>
              </a:rPr>
              <a:t>3,809</a:t>
            </a:r>
            <a:endParaRPr lang="en-US" sz="2600" dirty="0"/>
          </a:p>
        </p:txBody>
      </p:sp>
      <p:sp>
        <p:nvSpPr>
          <p:cNvPr id="13" name="Text 9"/>
          <p:cNvSpPr/>
          <p:nvPr/>
        </p:nvSpPr>
        <p:spPr>
          <a:xfrm>
            <a:off x="7607808" y="3685032"/>
            <a:ext cx="394106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trainable parameters — deliberately compact</a:t>
            </a:r>
            <a:endParaRPr lang="en-US" sz="1050" dirty="0"/>
          </a:p>
        </p:txBody>
      </p:sp>
      <p:sp>
        <p:nvSpPr>
          <p:cNvPr id="14" name="Text 10"/>
          <p:cNvSpPr/>
          <p:nvPr/>
        </p:nvSpPr>
        <p:spPr>
          <a:xfrm>
            <a:off x="7498080" y="4434840"/>
            <a:ext cx="4160520" cy="1737360"/>
          </a:xfrm>
          <a:prstGeom prst="rect">
            <a:avLst/>
          </a:prstGeom>
          <a:noFill/>
          <a:ln/>
        </p:spPr>
        <p:txBody>
          <a:bodyPr wrap="square" rtlCol="0" anchor="t"/>
          <a:lstStyle/>
          <a:p>
            <a:pPr indent="0" marL="0">
              <a:lnSpc>
                <a:spcPct val="130000"/>
              </a:lnSpc>
              <a:buNone/>
            </a:pPr>
            <a:r>
              <a:rPr lang="en-US" sz="1200" dirty="0">
                <a:solidFill>
                  <a:srgbClr val="1B2733"/>
                </a:solidFill>
                <a:latin typeface="Calibri" pitchFamily="34" charset="0"/>
                <a:ea typeface="Calibri" pitchFamily="34" charset="-122"/>
                <a:cs typeface="Calibri" pitchFamily="34" charset="-120"/>
              </a:rPr>
              <a:t>Logistic Regression and the Linear SVM stayed close to chance level. The nine hand-crafted features simply lose information the raw waveform keeps. The CNN was selected as the optimisation candidate using validation evidence only — held-out participants stayed untouched.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08</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OPTIMISATION — PRUNING</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More compression didn't mean worse performance</a:t>
            </a:r>
            <a:endParaRPr lang="en-US" sz="3200" dirty="0"/>
          </a:p>
        </p:txBody>
      </p:sp>
      <p:pic>
        <p:nvPicPr>
          <p:cNvPr id="7" name="Image 1" descr="/home/claude/work/figs/fig-003.png">    </p:cNvPr>
          <p:cNvPicPr>
            <a:picLocks noChangeAspect="1"/>
          </p:cNvPicPr>
          <p:nvPr/>
        </p:nvPicPr>
        <p:blipFill>
          <a:blip r:embed="rId2"/>
          <a:stretch>
            <a:fillRect/>
          </a:stretch>
        </p:blipFill>
        <p:spPr>
          <a:xfrm>
            <a:off x="502920" y="1737360"/>
            <a:ext cx="3749040" cy="2569464"/>
          </a:xfrm>
          <a:prstGeom prst="rect">
            <a:avLst/>
          </a:prstGeom>
        </p:spPr>
      </p:pic>
      <p:pic>
        <p:nvPicPr>
          <p:cNvPr id="8" name="Image 2" descr="/home/claude/work/figs/fig-004.png">    </p:cNvPr>
          <p:cNvPicPr>
            <a:picLocks noChangeAspect="1"/>
          </p:cNvPicPr>
          <p:nvPr/>
        </p:nvPicPr>
        <p:blipFill>
          <a:blip r:embed="rId3"/>
          <a:stretch>
            <a:fillRect/>
          </a:stretch>
        </p:blipFill>
        <p:spPr>
          <a:xfrm>
            <a:off x="4434840" y="1737360"/>
            <a:ext cx="3749040" cy="2569464"/>
          </a:xfrm>
          <a:prstGeom prst="rect">
            <a:avLst/>
          </a:prstGeom>
        </p:spPr>
      </p:pic>
      <p:sp>
        <p:nvSpPr>
          <p:cNvPr id="9" name="Shape 4"/>
          <p:cNvSpPr/>
          <p:nvPr/>
        </p:nvSpPr>
        <p:spPr>
          <a:xfrm>
            <a:off x="8412480" y="1737360"/>
            <a:ext cx="3291840" cy="2569464"/>
          </a:xfrm>
          <a:prstGeom prst="roundRect">
            <a:avLst>
              <a:gd name="adj" fmla="val 3559"/>
            </a:avLst>
          </a:prstGeom>
          <a:solidFill>
            <a:srgbClr val="F2F6FB"/>
          </a:solidFill>
          <a:ln/>
        </p:spPr>
      </p:sp>
      <p:sp>
        <p:nvSpPr>
          <p:cNvPr id="10" name="Text 5"/>
          <p:cNvSpPr/>
          <p:nvPr/>
        </p:nvSpPr>
        <p:spPr>
          <a:xfrm>
            <a:off x="8641080" y="1920240"/>
            <a:ext cx="2834640" cy="685800"/>
          </a:xfrm>
          <a:prstGeom prst="rect">
            <a:avLst/>
          </a:prstGeom>
          <a:noFill/>
          <a:ln/>
        </p:spPr>
        <p:txBody>
          <a:bodyPr wrap="square" rtlCol="0" anchor="ctr"/>
          <a:lstStyle/>
          <a:p>
            <a:pPr indent="0" marL="0">
              <a:buNone/>
            </a:pPr>
            <a:r>
              <a:rPr lang="en-US" sz="3400" b="1" dirty="0">
                <a:solidFill>
                  <a:srgbClr val="E4572E"/>
                </a:solidFill>
                <a:latin typeface="Cambria" pitchFamily="34" charset="0"/>
                <a:ea typeface="Cambria" pitchFamily="34" charset="-122"/>
                <a:cs typeface="Cambria" pitchFamily="34" charset="-120"/>
              </a:rPr>
              <a:t>60%</a:t>
            </a:r>
            <a:endParaRPr lang="en-US" sz="3400" dirty="0"/>
          </a:p>
        </p:txBody>
      </p:sp>
      <p:sp>
        <p:nvSpPr>
          <p:cNvPr id="11" name="Text 6"/>
          <p:cNvSpPr/>
          <p:nvPr/>
        </p:nvSpPr>
        <p:spPr>
          <a:xfrm>
            <a:off x="8641080" y="2606040"/>
            <a:ext cx="2834640" cy="731520"/>
          </a:xfrm>
          <a:prstGeom prst="rect">
            <a:avLst/>
          </a:prstGeom>
          <a:noFill/>
          <a:ln/>
        </p:spPr>
        <p:txBody>
          <a:bodyPr wrap="square" rtlCol="0" anchor="ctr"/>
          <a:lstStyle/>
          <a:p>
            <a:pPr indent="0" marL="0">
              <a:lnSpc>
                <a:spcPct val="125000"/>
              </a:lnSpc>
              <a:buNone/>
            </a:pPr>
            <a:r>
              <a:rPr lang="en-US" sz="1200" dirty="0">
                <a:solidFill>
                  <a:srgbClr val="1B2733"/>
                </a:solidFill>
                <a:latin typeface="Calibri" pitchFamily="34" charset="0"/>
                <a:ea typeface="Calibri" pitchFamily="34" charset="-122"/>
                <a:cs typeface="Calibri" pitchFamily="34" charset="-120"/>
              </a:rPr>
              <a:t>target sparsity produced the strongest validation F1-score</a:t>
            </a:r>
            <a:endParaRPr lang="en-US" sz="1200" dirty="0"/>
          </a:p>
        </p:txBody>
      </p:sp>
      <p:sp>
        <p:nvSpPr>
          <p:cNvPr id="12" name="Text 7"/>
          <p:cNvSpPr/>
          <p:nvPr/>
        </p:nvSpPr>
        <p:spPr>
          <a:xfrm>
            <a:off x="8641080" y="3429000"/>
            <a:ext cx="2834640" cy="777240"/>
          </a:xfrm>
          <a:prstGeom prst="rect">
            <a:avLst/>
          </a:prstGeom>
          <a:noFill/>
          <a:ln/>
        </p:spPr>
        <p:txBody>
          <a:bodyPr wrap="square" rtlCol="0" anchor="ctr"/>
          <a:lstStyle/>
          <a:p>
            <a:pPr indent="0" marL="0">
              <a:lnSpc>
                <a:spcPct val="125000"/>
              </a:lnSpc>
              <a:buNone/>
            </a:pPr>
            <a:r>
              <a:rPr lang="en-US" sz="1200" i="1" dirty="0">
                <a:solidFill>
                  <a:srgbClr val="5C6B7A"/>
                </a:solidFill>
                <a:latin typeface="Calibri" pitchFamily="34" charset="0"/>
                <a:ea typeface="Calibri" pitchFamily="34" charset="-122"/>
                <a:cs typeface="Calibri" pitchFamily="34" charset="-120"/>
              </a:rPr>
              <a:t>80% gave the best ROC-AUC instead.</a:t>
            </a:r>
            <a:endParaRPr lang="en-US" sz="1200" dirty="0"/>
          </a:p>
        </p:txBody>
      </p:sp>
      <p:sp>
        <p:nvSpPr>
          <p:cNvPr id="13" name="Text 8"/>
          <p:cNvSpPr/>
          <p:nvPr/>
        </p:nvSpPr>
        <p:spPr>
          <a:xfrm>
            <a:off x="502920" y="4526280"/>
            <a:ext cx="11155680" cy="1005840"/>
          </a:xfrm>
          <a:prstGeom prst="rect">
            <a:avLst/>
          </a:prstGeom>
          <a:noFill/>
          <a:ln/>
        </p:spPr>
        <p:txBody>
          <a:bodyPr wrap="square" rtlCol="0" anchor="t"/>
          <a:lstStyle/>
          <a:p>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Magnitude-based pruning was evaluated at 20%, 40%, 60% and 80% target sparsity — on validation data only. The relationship wasn't a straight line: sometimes trimming more of the network improved behaviour rather than hurting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09</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OPTIMISATION — QUANTISATION</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000" b="1" dirty="0">
                <a:solidFill>
                  <a:srgbClr val="1B2733"/>
                </a:solidFill>
                <a:latin typeface="Cambria" pitchFamily="34" charset="0"/>
                <a:ea typeface="Cambria" pitchFamily="34" charset="-122"/>
                <a:cs typeface="Cambria" pitchFamily="34" charset="-120"/>
              </a:rPr>
              <a:t>Smaller, faster, almost no accuracy cost</a:t>
            </a:r>
            <a:endParaRPr lang="en-US" sz="3000" dirty="0"/>
          </a:p>
        </p:txBody>
      </p:sp>
      <p:pic>
        <p:nvPicPr>
          <p:cNvPr id="7" name="Image 1" descr="/home/claude/work/figs/nb06_19_0.png">    </p:cNvPr>
          <p:cNvPicPr>
            <a:picLocks noChangeAspect="1"/>
          </p:cNvPicPr>
          <p:nvPr/>
        </p:nvPicPr>
        <p:blipFill>
          <a:blip r:embed="rId2"/>
          <a:stretch>
            <a:fillRect/>
          </a:stretch>
        </p:blipFill>
        <p:spPr>
          <a:xfrm>
            <a:off x="502920" y="1691640"/>
            <a:ext cx="5943600" cy="4050792"/>
          </a:xfrm>
          <a:prstGeom prst="rect">
            <a:avLst/>
          </a:prstGeom>
        </p:spPr>
      </p:pic>
      <p:sp>
        <p:nvSpPr>
          <p:cNvPr id="8" name="Shape 4"/>
          <p:cNvSpPr/>
          <p:nvPr/>
        </p:nvSpPr>
        <p:spPr>
          <a:xfrm>
            <a:off x="6720840" y="1691640"/>
            <a:ext cx="4937760" cy="1188720"/>
          </a:xfrm>
          <a:prstGeom prst="roundRect">
            <a:avLst>
              <a:gd name="adj" fmla="val 6154"/>
            </a:avLst>
          </a:prstGeom>
          <a:solidFill>
            <a:srgbClr val="F2F6FB"/>
          </a:solidFill>
          <a:ln/>
        </p:spPr>
      </p:sp>
      <p:sp>
        <p:nvSpPr>
          <p:cNvPr id="9" name="Text 5"/>
          <p:cNvSpPr/>
          <p:nvPr/>
        </p:nvSpPr>
        <p:spPr>
          <a:xfrm>
            <a:off x="6830568" y="1783080"/>
            <a:ext cx="4718304" cy="548640"/>
          </a:xfrm>
          <a:prstGeom prst="rect">
            <a:avLst/>
          </a:prstGeom>
          <a:noFill/>
          <a:ln/>
        </p:spPr>
        <p:txBody>
          <a:bodyPr wrap="square" rtlCol="0" anchor="ctr"/>
          <a:lstStyle/>
          <a:p>
            <a:pPr algn="l" indent="0" marL="0">
              <a:buNone/>
            </a:pPr>
            <a:r>
              <a:rPr lang="en-US" sz="2400" b="1" dirty="0">
                <a:solidFill>
                  <a:srgbClr val="004E9A"/>
                </a:solidFill>
                <a:latin typeface="Cambria" pitchFamily="34" charset="0"/>
                <a:ea typeface="Cambria" pitchFamily="34" charset="-122"/>
                <a:cs typeface="Cambria" pitchFamily="34" charset="-120"/>
              </a:rPr>
              <a:t>34.1% smaller</a:t>
            </a:r>
            <a:endParaRPr lang="en-US" sz="2400" dirty="0"/>
          </a:p>
        </p:txBody>
      </p:sp>
      <p:sp>
        <p:nvSpPr>
          <p:cNvPr id="10" name="Text 6"/>
          <p:cNvSpPr/>
          <p:nvPr/>
        </p:nvSpPr>
        <p:spPr>
          <a:xfrm>
            <a:off x="6830568" y="2313432"/>
            <a:ext cx="47183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14.88 KB → 9.80 KB after dynamic-range quantisation</a:t>
            </a:r>
            <a:endParaRPr lang="en-US" sz="1050" dirty="0"/>
          </a:p>
        </p:txBody>
      </p:sp>
      <p:sp>
        <p:nvSpPr>
          <p:cNvPr id="11" name="Shape 7"/>
          <p:cNvSpPr/>
          <p:nvPr/>
        </p:nvSpPr>
        <p:spPr>
          <a:xfrm>
            <a:off x="6720840" y="3017520"/>
            <a:ext cx="4937760" cy="1188720"/>
          </a:xfrm>
          <a:prstGeom prst="roundRect">
            <a:avLst>
              <a:gd name="adj" fmla="val 6154"/>
            </a:avLst>
          </a:prstGeom>
          <a:solidFill>
            <a:srgbClr val="F2F6FB"/>
          </a:solidFill>
          <a:ln/>
        </p:spPr>
      </p:sp>
      <p:sp>
        <p:nvSpPr>
          <p:cNvPr id="12" name="Text 8"/>
          <p:cNvSpPr/>
          <p:nvPr/>
        </p:nvSpPr>
        <p:spPr>
          <a:xfrm>
            <a:off x="6830568" y="3108960"/>
            <a:ext cx="4718304" cy="548640"/>
          </a:xfrm>
          <a:prstGeom prst="rect">
            <a:avLst/>
          </a:prstGeom>
          <a:noFill/>
          <a:ln/>
        </p:spPr>
        <p:txBody>
          <a:bodyPr wrap="square" rtlCol="0" anchor="ctr"/>
          <a:lstStyle/>
          <a:p>
            <a:pPr algn="l" indent="0" marL="0">
              <a:buNone/>
            </a:pPr>
            <a:r>
              <a:rPr lang="en-US" sz="2400" b="1" dirty="0">
                <a:solidFill>
                  <a:srgbClr val="E4572E"/>
                </a:solidFill>
                <a:latin typeface="Cambria" pitchFamily="34" charset="0"/>
                <a:ea typeface="Cambria" pitchFamily="34" charset="-122"/>
                <a:cs typeface="Cambria" pitchFamily="34" charset="-120"/>
              </a:rPr>
              <a:t>45.8% faster</a:t>
            </a:r>
            <a:endParaRPr lang="en-US" sz="2400" dirty="0"/>
          </a:p>
        </p:txBody>
      </p:sp>
      <p:sp>
        <p:nvSpPr>
          <p:cNvPr id="13" name="Text 9"/>
          <p:cNvSpPr/>
          <p:nvPr/>
        </p:nvSpPr>
        <p:spPr>
          <a:xfrm>
            <a:off x="6830568" y="3639312"/>
            <a:ext cx="47183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51.09 s → 27.69 s paired validation prediction time (1.85×)</a:t>
            </a:r>
            <a:endParaRPr lang="en-US" sz="1050" dirty="0"/>
          </a:p>
        </p:txBody>
      </p:sp>
      <p:sp>
        <p:nvSpPr>
          <p:cNvPr id="14" name="Shape 10"/>
          <p:cNvSpPr/>
          <p:nvPr/>
        </p:nvSpPr>
        <p:spPr>
          <a:xfrm>
            <a:off x="6720840" y="4343400"/>
            <a:ext cx="4937760" cy="1188720"/>
          </a:xfrm>
          <a:prstGeom prst="roundRect">
            <a:avLst>
              <a:gd name="adj" fmla="val 6154"/>
            </a:avLst>
          </a:prstGeom>
          <a:solidFill>
            <a:srgbClr val="F2F6FB"/>
          </a:solidFill>
          <a:ln/>
        </p:spPr>
      </p:sp>
      <p:sp>
        <p:nvSpPr>
          <p:cNvPr id="15" name="Text 11"/>
          <p:cNvSpPr/>
          <p:nvPr/>
        </p:nvSpPr>
        <p:spPr>
          <a:xfrm>
            <a:off x="6830568" y="4434840"/>
            <a:ext cx="4718304" cy="548640"/>
          </a:xfrm>
          <a:prstGeom prst="rect">
            <a:avLst/>
          </a:prstGeom>
          <a:noFill/>
          <a:ln/>
        </p:spPr>
        <p:txBody>
          <a:bodyPr wrap="square" rtlCol="0" anchor="ctr"/>
          <a:lstStyle/>
          <a:p>
            <a:pPr algn="l" indent="0" marL="0">
              <a:buNone/>
            </a:pPr>
            <a:r>
              <a:rPr lang="en-US" sz="2400" b="1" dirty="0">
                <a:solidFill>
                  <a:srgbClr val="004E9A"/>
                </a:solidFill>
                <a:latin typeface="Cambria" pitchFamily="34" charset="0"/>
                <a:ea typeface="Cambria" pitchFamily="34" charset="-122"/>
                <a:cs typeface="Cambria" pitchFamily="34" charset="-120"/>
              </a:rPr>
              <a:t>−0.0045 F1</a:t>
            </a:r>
            <a:endParaRPr lang="en-US" sz="2400" dirty="0"/>
          </a:p>
        </p:txBody>
      </p:sp>
      <p:sp>
        <p:nvSpPr>
          <p:cNvPr id="16" name="Text 12"/>
          <p:cNvSpPr/>
          <p:nvPr/>
        </p:nvSpPr>
        <p:spPr>
          <a:xfrm>
            <a:off x="6830568" y="4965192"/>
            <a:ext cx="47183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validation performance barely moved: 0.7932 → 0.7888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FINAL HELD-OUT EVALUATION</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2800" b="1" dirty="0">
                <a:solidFill>
                  <a:srgbClr val="1B2733"/>
                </a:solidFill>
                <a:latin typeface="Cambria" pitchFamily="34" charset="0"/>
                <a:ea typeface="Cambria" pitchFamily="34" charset="-122"/>
                <a:cs typeface="Cambria" pitchFamily="34" charset="-120"/>
              </a:rPr>
              <a:t>Tested once, on five unseen participants</a:t>
            </a:r>
            <a:endParaRPr lang="en-US" sz="2800" dirty="0"/>
          </a:p>
        </p:txBody>
      </p:sp>
      <p:pic>
        <p:nvPicPr>
          <p:cNvPr id="7" name="Image 1" descr="/home/claude/work/figs/nb06_14_2.png">    </p:cNvPr>
          <p:cNvPicPr>
            <a:picLocks noChangeAspect="1"/>
          </p:cNvPicPr>
          <p:nvPr/>
        </p:nvPicPr>
        <p:blipFill>
          <a:blip r:embed="rId2"/>
          <a:stretch>
            <a:fillRect/>
          </a:stretch>
        </p:blipFill>
        <p:spPr>
          <a:xfrm>
            <a:off x="502920" y="1691640"/>
            <a:ext cx="4160520" cy="3246120"/>
          </a:xfrm>
          <a:prstGeom prst="rect">
            <a:avLst/>
          </a:prstGeom>
        </p:spPr>
      </p:pic>
      <p:pic>
        <p:nvPicPr>
          <p:cNvPr id="8" name="Image 2" descr="/home/claude/work/figs/fig-007.png">    </p:cNvPr>
          <p:cNvPicPr>
            <a:picLocks noChangeAspect="1"/>
          </p:cNvPicPr>
          <p:nvPr/>
        </p:nvPicPr>
        <p:blipFill>
          <a:blip r:embed="rId3"/>
          <a:stretch>
            <a:fillRect/>
          </a:stretch>
        </p:blipFill>
        <p:spPr>
          <a:xfrm>
            <a:off x="4892040" y="1691640"/>
            <a:ext cx="4160520" cy="2843784"/>
          </a:xfrm>
          <a:prstGeom prst="rect">
            <a:avLst/>
          </a:prstGeom>
        </p:spPr>
      </p:pic>
      <p:sp>
        <p:nvSpPr>
          <p:cNvPr id="9" name="Text 4"/>
          <p:cNvSpPr/>
          <p:nvPr/>
        </p:nvSpPr>
        <p:spPr>
          <a:xfrm>
            <a:off x="4892040" y="4572000"/>
            <a:ext cx="4160520" cy="640080"/>
          </a:xfrm>
          <a:prstGeom prst="rect">
            <a:avLst/>
          </a:prstGeom>
          <a:noFill/>
          <a:ln/>
        </p:spPr>
        <p:txBody>
          <a:bodyPr wrap="square" rtlCol="0" anchor="ctr"/>
          <a:lstStyle/>
          <a:p>
            <a:pPr indent="0" marL="0">
              <a:lnSpc>
                <a:spcPct val="125000"/>
              </a:lnSpc>
              <a:buNone/>
            </a:pPr>
            <a:r>
              <a:rPr lang="en-US" sz="1100" i="1" dirty="0">
                <a:solidFill>
                  <a:srgbClr val="5C6B7A"/>
                </a:solidFill>
                <a:latin typeface="Calibri" pitchFamily="34" charset="0"/>
                <a:ea typeface="Calibri" pitchFamily="34" charset="-122"/>
                <a:cs typeface="Calibri" pitchFamily="34" charset="-120"/>
              </a:rPr>
              <a:t>Class 1 (Awake) recalled far better than Class 0 (Asleep) — an honest, uneven result.</a:t>
            </a:r>
            <a:endParaRPr lang="en-US" sz="1100" dirty="0"/>
          </a:p>
        </p:txBody>
      </p:sp>
      <p:sp>
        <p:nvSpPr>
          <p:cNvPr id="10" name="Shape 5"/>
          <p:cNvSpPr/>
          <p:nvPr/>
        </p:nvSpPr>
        <p:spPr>
          <a:xfrm>
            <a:off x="9281160" y="1691640"/>
            <a:ext cx="2423160" cy="960120"/>
          </a:xfrm>
          <a:prstGeom prst="roundRect">
            <a:avLst>
              <a:gd name="adj" fmla="val 7619"/>
            </a:avLst>
          </a:prstGeom>
          <a:solidFill>
            <a:srgbClr val="F2F6FB"/>
          </a:solidFill>
          <a:ln/>
        </p:spPr>
      </p:sp>
      <p:sp>
        <p:nvSpPr>
          <p:cNvPr id="11" name="Text 6"/>
          <p:cNvSpPr/>
          <p:nvPr/>
        </p:nvSpPr>
        <p:spPr>
          <a:xfrm>
            <a:off x="9390888" y="1783080"/>
            <a:ext cx="2203704" cy="548640"/>
          </a:xfrm>
          <a:prstGeom prst="rect">
            <a:avLst/>
          </a:prstGeom>
          <a:noFill/>
          <a:ln/>
        </p:spPr>
        <p:txBody>
          <a:bodyPr wrap="square" rtlCol="0" anchor="ctr"/>
          <a:lstStyle/>
          <a:p>
            <a:pPr algn="l" indent="0" marL="0">
              <a:buNone/>
            </a:pPr>
            <a:r>
              <a:rPr lang="en-US" sz="2400" b="1" dirty="0">
                <a:solidFill>
                  <a:srgbClr val="004E9A"/>
                </a:solidFill>
                <a:latin typeface="Cambria" pitchFamily="34" charset="0"/>
                <a:ea typeface="Cambria" pitchFamily="34" charset="-122"/>
                <a:cs typeface="Cambria" pitchFamily="34" charset="-120"/>
              </a:rPr>
              <a:t>0.738</a:t>
            </a:r>
            <a:endParaRPr lang="en-US" sz="2400" dirty="0"/>
          </a:p>
        </p:txBody>
      </p:sp>
      <p:sp>
        <p:nvSpPr>
          <p:cNvPr id="12" name="Text 7"/>
          <p:cNvSpPr/>
          <p:nvPr/>
        </p:nvSpPr>
        <p:spPr>
          <a:xfrm>
            <a:off x="9390888" y="2313432"/>
            <a:ext cx="22037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F1-score</a:t>
            </a:r>
            <a:endParaRPr lang="en-US" sz="1050" dirty="0"/>
          </a:p>
        </p:txBody>
      </p:sp>
      <p:sp>
        <p:nvSpPr>
          <p:cNvPr id="13" name="Shape 8"/>
          <p:cNvSpPr/>
          <p:nvPr/>
        </p:nvSpPr>
        <p:spPr>
          <a:xfrm>
            <a:off x="9281160" y="2743200"/>
            <a:ext cx="2423160" cy="960120"/>
          </a:xfrm>
          <a:prstGeom prst="roundRect">
            <a:avLst>
              <a:gd name="adj" fmla="val 7619"/>
            </a:avLst>
          </a:prstGeom>
          <a:solidFill>
            <a:srgbClr val="F2F6FB"/>
          </a:solidFill>
          <a:ln/>
        </p:spPr>
      </p:sp>
      <p:sp>
        <p:nvSpPr>
          <p:cNvPr id="14" name="Text 9"/>
          <p:cNvSpPr/>
          <p:nvPr/>
        </p:nvSpPr>
        <p:spPr>
          <a:xfrm>
            <a:off x="9390888" y="2834640"/>
            <a:ext cx="2203704" cy="548640"/>
          </a:xfrm>
          <a:prstGeom prst="rect">
            <a:avLst/>
          </a:prstGeom>
          <a:noFill/>
          <a:ln/>
        </p:spPr>
        <p:txBody>
          <a:bodyPr wrap="square" rtlCol="0" anchor="ctr"/>
          <a:lstStyle/>
          <a:p>
            <a:pPr algn="l" indent="0" marL="0">
              <a:buNone/>
            </a:pPr>
            <a:r>
              <a:rPr lang="en-US" sz="2400" b="1" dirty="0">
                <a:solidFill>
                  <a:srgbClr val="E4572E"/>
                </a:solidFill>
                <a:latin typeface="Cambria" pitchFamily="34" charset="0"/>
                <a:ea typeface="Cambria" pitchFamily="34" charset="-122"/>
                <a:cs typeface="Cambria" pitchFamily="34" charset="-120"/>
              </a:rPr>
              <a:t>0.774</a:t>
            </a:r>
            <a:endParaRPr lang="en-US" sz="2400" dirty="0"/>
          </a:p>
        </p:txBody>
      </p:sp>
      <p:sp>
        <p:nvSpPr>
          <p:cNvPr id="15" name="Text 10"/>
          <p:cNvSpPr/>
          <p:nvPr/>
        </p:nvSpPr>
        <p:spPr>
          <a:xfrm>
            <a:off x="9390888" y="3364992"/>
            <a:ext cx="22037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ROC-AUC</a:t>
            </a:r>
            <a:endParaRPr lang="en-US" sz="1050" dirty="0"/>
          </a:p>
        </p:txBody>
      </p:sp>
      <p:sp>
        <p:nvSpPr>
          <p:cNvPr id="16" name="Shape 11"/>
          <p:cNvSpPr/>
          <p:nvPr/>
        </p:nvSpPr>
        <p:spPr>
          <a:xfrm>
            <a:off x="9281160" y="3794760"/>
            <a:ext cx="2423160" cy="960120"/>
          </a:xfrm>
          <a:prstGeom prst="roundRect">
            <a:avLst>
              <a:gd name="adj" fmla="val 7619"/>
            </a:avLst>
          </a:prstGeom>
          <a:solidFill>
            <a:srgbClr val="F2F6FB"/>
          </a:solidFill>
          <a:ln/>
        </p:spPr>
      </p:sp>
      <p:sp>
        <p:nvSpPr>
          <p:cNvPr id="17" name="Text 12"/>
          <p:cNvSpPr/>
          <p:nvPr/>
        </p:nvSpPr>
        <p:spPr>
          <a:xfrm>
            <a:off x="9390888" y="3886200"/>
            <a:ext cx="2203704" cy="548640"/>
          </a:xfrm>
          <a:prstGeom prst="rect">
            <a:avLst/>
          </a:prstGeom>
          <a:noFill/>
          <a:ln/>
        </p:spPr>
        <p:txBody>
          <a:bodyPr wrap="square" rtlCol="0" anchor="ctr"/>
          <a:lstStyle/>
          <a:p>
            <a:pPr algn="l" indent="0" marL="0">
              <a:buNone/>
            </a:pPr>
            <a:r>
              <a:rPr lang="en-US" sz="2400" b="1" dirty="0">
                <a:solidFill>
                  <a:srgbClr val="004E9A"/>
                </a:solidFill>
                <a:latin typeface="Cambria" pitchFamily="34" charset="0"/>
                <a:ea typeface="Cambria" pitchFamily="34" charset="-122"/>
                <a:cs typeface="Cambria" pitchFamily="34" charset="-120"/>
              </a:rPr>
              <a:t>0.90</a:t>
            </a:r>
            <a:endParaRPr lang="en-US" sz="2400" dirty="0"/>
          </a:p>
        </p:txBody>
      </p:sp>
      <p:sp>
        <p:nvSpPr>
          <p:cNvPr id="18" name="Text 13"/>
          <p:cNvSpPr/>
          <p:nvPr/>
        </p:nvSpPr>
        <p:spPr>
          <a:xfrm>
            <a:off x="9390888" y="4416552"/>
            <a:ext cx="2203704" cy="365760"/>
          </a:xfrm>
          <a:prstGeom prst="rect">
            <a:avLst/>
          </a:prstGeom>
          <a:noFill/>
          <a:ln/>
        </p:spPr>
        <p:txBody>
          <a:bodyPr wrap="square" rtlCol="0" anchor="ctr"/>
          <a:lstStyle/>
          <a:p>
            <a:pPr algn="l" indent="0" marL="0">
              <a:buNone/>
            </a:pPr>
            <a:r>
              <a:rPr lang="en-US" sz="1050" dirty="0">
                <a:solidFill>
                  <a:srgbClr val="5C6B7A"/>
                </a:solidFill>
                <a:latin typeface="Calibri" pitchFamily="34" charset="0"/>
                <a:ea typeface="Calibri" pitchFamily="34" charset="-122"/>
                <a:cs typeface="Calibri" pitchFamily="34" charset="-120"/>
              </a:rPr>
              <a:t>Precision</a:t>
            </a:r>
            <a:endParaRPr lang="en-US" sz="1050" dirty="0"/>
          </a:p>
        </p:txBody>
      </p:sp>
      <p:sp>
        <p:nvSpPr>
          <p:cNvPr id="19" name="Text 14"/>
          <p:cNvSpPr/>
          <p:nvPr/>
        </p:nvSpPr>
        <p:spPr>
          <a:xfrm>
            <a:off x="502920" y="5074920"/>
            <a:ext cx="8778240" cy="457200"/>
          </a:xfrm>
          <a:prstGeom prst="rect">
            <a:avLst/>
          </a:prstGeom>
          <a:noFill/>
          <a:ln/>
        </p:spPr>
        <p:txBody>
          <a:bodyPr wrap="square" rtlCol="0" anchor="ctr"/>
          <a:lstStyle/>
          <a:p>
            <a:pPr indent="0" marL="0">
              <a:buNone/>
            </a:pPr>
            <a:r>
              <a:rPr lang="en-US" sz="1250" dirty="0">
                <a:solidFill>
                  <a:srgbClr val="1B2733"/>
                </a:solidFill>
                <a:latin typeface="Calibri" pitchFamily="34" charset="0"/>
                <a:ea typeface="Calibri" pitchFamily="34" charset="-122"/>
                <a:cs typeface="Calibri" pitchFamily="34" charset="-120"/>
              </a:rPr>
              <a:t>Best participant F1: 0.907  ·  Weakest: 0.389 — individual physiology still matters.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work/qmul_logo.jpg">    </p:cNvPr>
          <p:cNvPicPr>
            <a:picLocks noChangeAspect="1"/>
          </p:cNvPicPr>
          <p:nvPr/>
        </p:nvPicPr>
        <p:blipFill>
          <a:blip r:embed="rId1"/>
          <a:stretch>
            <a:fillRect/>
          </a:stretch>
        </p:blipFill>
        <p:spPr>
          <a:xfrm>
            <a:off x="10314432" y="320040"/>
            <a:ext cx="1371600" cy="365760"/>
          </a:xfrm>
          <a:prstGeom prst="rect">
            <a:avLst/>
          </a:prstGeom>
        </p:spPr>
      </p:pic>
      <p:sp>
        <p:nvSpPr>
          <p:cNvPr id="3" name="Text 0"/>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5C6B7A"/>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4" name="Text 1"/>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
        <p:nvSpPr>
          <p:cNvPr id="5" name="Text 2"/>
          <p:cNvSpPr/>
          <p:nvPr/>
        </p:nvSpPr>
        <p:spPr>
          <a:xfrm>
            <a:off x="502920" y="384048"/>
            <a:ext cx="7315200" cy="292608"/>
          </a:xfrm>
          <a:prstGeom prst="rect">
            <a:avLst/>
          </a:prstGeom>
          <a:noFill/>
          <a:ln/>
        </p:spPr>
        <p:txBody>
          <a:bodyPr wrap="square" rtlCol="0" anchor="ctr"/>
          <a:lstStyle/>
          <a:p>
            <a:pPr indent="0" marL="0">
              <a:buNone/>
            </a:pPr>
            <a:r>
              <a:rPr lang="en-US" sz="1200" b="1" spc="200" kern="0" dirty="0">
                <a:solidFill>
                  <a:srgbClr val="004E9A"/>
                </a:solidFill>
                <a:latin typeface="Calibri" pitchFamily="34" charset="0"/>
                <a:ea typeface="Calibri" pitchFamily="34" charset="-122"/>
                <a:cs typeface="Calibri" pitchFamily="34" charset="-120"/>
              </a:rPr>
              <a:t>DISCUSSION</a:t>
            </a:r>
            <a:endParaRPr lang="en-US" sz="1200" dirty="0"/>
          </a:p>
        </p:txBody>
      </p:sp>
      <p:sp>
        <p:nvSpPr>
          <p:cNvPr id="6" name="Text 3"/>
          <p:cNvSpPr/>
          <p:nvPr/>
        </p:nvSpPr>
        <p:spPr>
          <a:xfrm>
            <a:off x="502920" y="658368"/>
            <a:ext cx="9692640" cy="822960"/>
          </a:xfrm>
          <a:prstGeom prst="rect">
            <a:avLst/>
          </a:prstGeom>
          <a:noFill/>
          <a:ln/>
        </p:spPr>
        <p:txBody>
          <a:bodyPr wrap="square" rtlCol="0" anchor="t"/>
          <a:lstStyle/>
          <a:p>
            <a:pPr algn="l" indent="0" marL="0">
              <a:buNone/>
            </a:pPr>
            <a:r>
              <a:rPr lang="en-US" sz="3200" b="1" dirty="0">
                <a:solidFill>
                  <a:srgbClr val="1B2733"/>
                </a:solidFill>
                <a:latin typeface="Cambria" pitchFamily="34" charset="0"/>
                <a:ea typeface="Cambria" pitchFamily="34" charset="-122"/>
                <a:cs typeface="Cambria" pitchFamily="34" charset="-120"/>
              </a:rPr>
              <a:t>Closing the gap — within its scope</a:t>
            </a:r>
            <a:endParaRPr lang="en-US" sz="3200" dirty="0"/>
          </a:p>
        </p:txBody>
      </p:sp>
      <p:sp>
        <p:nvSpPr>
          <p:cNvPr id="7" name="Shape 4"/>
          <p:cNvSpPr/>
          <p:nvPr/>
        </p:nvSpPr>
        <p:spPr>
          <a:xfrm>
            <a:off x="502920" y="1737360"/>
            <a:ext cx="5394960" cy="3566160"/>
          </a:xfrm>
          <a:prstGeom prst="roundRect">
            <a:avLst>
              <a:gd name="adj" fmla="val 2564"/>
            </a:avLst>
          </a:prstGeom>
          <a:solidFill>
            <a:srgbClr val="E7F2E9"/>
          </a:solidFill>
          <a:ln/>
        </p:spPr>
      </p:sp>
      <p:sp>
        <p:nvSpPr>
          <p:cNvPr id="8" name="Text 5"/>
          <p:cNvSpPr/>
          <p:nvPr/>
        </p:nvSpPr>
        <p:spPr>
          <a:xfrm>
            <a:off x="777240" y="1965960"/>
            <a:ext cx="4846320" cy="274320"/>
          </a:xfrm>
          <a:prstGeom prst="rect">
            <a:avLst/>
          </a:prstGeom>
          <a:noFill/>
          <a:ln/>
        </p:spPr>
        <p:txBody>
          <a:bodyPr wrap="square" rtlCol="0" anchor="ctr"/>
          <a:lstStyle/>
          <a:p>
            <a:pPr indent="0" marL="0">
              <a:buNone/>
            </a:pPr>
            <a:r>
              <a:rPr lang="en-US" sz="1100" b="1" spc="150" kern="0" dirty="0">
                <a:solidFill>
                  <a:srgbClr val="2C7A3F"/>
                </a:solidFill>
                <a:latin typeface="Calibri" pitchFamily="34" charset="0"/>
                <a:ea typeface="Calibri" pitchFamily="34" charset="-122"/>
                <a:cs typeface="Calibri" pitchFamily="34" charset="-120"/>
              </a:rPr>
              <a:t>WHAT THIS SHOWS</a:t>
            </a:r>
            <a:endParaRPr lang="en-US" sz="1100" dirty="0"/>
          </a:p>
        </p:txBody>
      </p:sp>
      <p:sp>
        <p:nvSpPr>
          <p:cNvPr id="9" name="Text 6"/>
          <p:cNvSpPr/>
          <p:nvPr/>
        </p:nvSpPr>
        <p:spPr>
          <a:xfrm>
            <a:off x="777240" y="237744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A compact waveform CNN outperforms hand-crafted ML features for this task</a:t>
            </a:r>
            <a:endParaRPr lang="en-US" sz="1250" dirty="0"/>
          </a:p>
        </p:txBody>
      </p:sp>
      <p:sp>
        <p:nvSpPr>
          <p:cNvPr id="10" name="Text 7"/>
          <p:cNvSpPr/>
          <p:nvPr/>
        </p:nvSpPr>
        <p:spPr>
          <a:xfrm>
            <a:off x="777240" y="324612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The same model compresses well — smaller and faster — with minimal F1 loss</a:t>
            </a:r>
            <a:endParaRPr lang="en-US" sz="1250" dirty="0"/>
          </a:p>
        </p:txBody>
      </p:sp>
      <p:sp>
        <p:nvSpPr>
          <p:cNvPr id="11" name="Text 8"/>
          <p:cNvSpPr/>
          <p:nvPr/>
        </p:nvSpPr>
        <p:spPr>
          <a:xfrm>
            <a:off x="777240" y="411480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Representation choice and compression evaluated together, in one pipeline</a:t>
            </a:r>
            <a:endParaRPr lang="en-US" sz="1250" dirty="0"/>
          </a:p>
        </p:txBody>
      </p:sp>
      <p:sp>
        <p:nvSpPr>
          <p:cNvPr id="12" name="Shape 9"/>
          <p:cNvSpPr/>
          <p:nvPr/>
        </p:nvSpPr>
        <p:spPr>
          <a:xfrm>
            <a:off x="6172200" y="1737360"/>
            <a:ext cx="5394960" cy="3566160"/>
          </a:xfrm>
          <a:prstGeom prst="roundRect">
            <a:avLst>
              <a:gd name="adj" fmla="val 2564"/>
            </a:avLst>
          </a:prstGeom>
          <a:solidFill>
            <a:srgbClr val="FBEAE6"/>
          </a:solidFill>
          <a:ln/>
        </p:spPr>
      </p:sp>
      <p:sp>
        <p:nvSpPr>
          <p:cNvPr id="13" name="Text 10"/>
          <p:cNvSpPr/>
          <p:nvPr/>
        </p:nvSpPr>
        <p:spPr>
          <a:xfrm>
            <a:off x="6446520" y="1965960"/>
            <a:ext cx="4846320" cy="274320"/>
          </a:xfrm>
          <a:prstGeom prst="rect">
            <a:avLst/>
          </a:prstGeom>
          <a:noFill/>
          <a:ln/>
        </p:spPr>
        <p:txBody>
          <a:bodyPr wrap="square" rtlCol="0" anchor="ctr"/>
          <a:lstStyle/>
          <a:p>
            <a:pPr indent="0" marL="0">
              <a:buNone/>
            </a:pPr>
            <a:r>
              <a:rPr lang="en-US" sz="1100" b="1" spc="150" kern="0" dirty="0">
                <a:solidFill>
                  <a:srgbClr val="E4572E"/>
                </a:solidFill>
                <a:latin typeface="Calibri" pitchFamily="34" charset="0"/>
                <a:ea typeface="Calibri" pitchFamily="34" charset="-122"/>
                <a:cs typeface="Calibri" pitchFamily="34" charset="-120"/>
              </a:rPr>
              <a:t>HONEST LIMITATIONS</a:t>
            </a:r>
            <a:endParaRPr lang="en-US" sz="1100" dirty="0"/>
          </a:p>
        </p:txBody>
      </p:sp>
      <p:sp>
        <p:nvSpPr>
          <p:cNvPr id="14" name="Text 11"/>
          <p:cNvSpPr/>
          <p:nvPr/>
        </p:nvSpPr>
        <p:spPr>
          <a:xfrm>
            <a:off x="6446520" y="237744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Only 5 held-out participants — limits generalisation claims</a:t>
            </a:r>
            <a:endParaRPr lang="en-US" sz="1250" dirty="0"/>
          </a:p>
        </p:txBody>
      </p:sp>
      <p:sp>
        <p:nvSpPr>
          <p:cNvPr id="15" name="Text 12"/>
          <p:cNvSpPr/>
          <p:nvPr/>
        </p:nvSpPr>
        <p:spPr>
          <a:xfrm>
            <a:off x="6446520" y="324612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±15-minute label tolerance, not clinical-grade ground truth</a:t>
            </a:r>
            <a:endParaRPr lang="en-US" sz="1250" dirty="0"/>
          </a:p>
        </p:txBody>
      </p:sp>
      <p:sp>
        <p:nvSpPr>
          <p:cNvPr id="16" name="Text 13"/>
          <p:cNvSpPr/>
          <p:nvPr/>
        </p:nvSpPr>
        <p:spPr>
          <a:xfrm>
            <a:off x="6446520" y="4114800"/>
            <a:ext cx="4846320" cy="822960"/>
          </a:xfrm>
          <a:prstGeom prst="rect">
            <a:avLst/>
          </a:prstGeom>
          <a:noFill/>
          <a:ln/>
        </p:spPr>
        <p:txBody>
          <a:bodyPr wrap="square" rtlCol="0" anchor="t"/>
          <a:lstStyle/>
          <a:p>
            <a:pPr indent="0" marL="0">
              <a:lnSpc>
                <a:spcPct val="120000"/>
              </a:lnSpc>
              <a:buNone/>
            </a:pPr>
            <a:r>
              <a:rPr lang="en-US" sz="1250" dirty="0">
                <a:solidFill>
                  <a:srgbClr val="1B2733"/>
                </a:solidFill>
                <a:latin typeface="Calibri" pitchFamily="34" charset="0"/>
                <a:ea typeface="Calibri" pitchFamily="34" charset="-122"/>
                <a:cs typeface="Calibri" pitchFamily="34" charset="-120"/>
              </a:rPr>
              <a:t>✗  ML and DL pipelines aren't preprocessed identically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A4D"/>
        </a:solidFill>
      </p:bgPr>
    </p:bg>
    <p:spTree>
      <p:nvGrpSpPr>
        <p:cNvPr id="1" name=""/>
        <p:cNvGrpSpPr/>
        <p:nvPr/>
      </p:nvGrpSpPr>
      <p:grpSpPr>
        <a:xfrm>
          <a:off x="0" y="0"/>
          <a:ext cx="0" cy="0"/>
          <a:chOff x="0" y="0"/>
          <a:chExt cx="0" cy="0"/>
        </a:xfrm>
      </p:grpSpPr>
      <p:sp>
        <p:nvSpPr>
          <p:cNvPr id="2" name="Shape 0"/>
          <p:cNvSpPr/>
          <p:nvPr/>
        </p:nvSpPr>
        <p:spPr>
          <a:xfrm>
            <a:off x="10195560" y="292608"/>
            <a:ext cx="1600200" cy="566928"/>
          </a:xfrm>
          <a:prstGeom prst="roundRect">
            <a:avLst>
              <a:gd name="adj" fmla="val 12903"/>
            </a:avLst>
          </a:prstGeom>
          <a:solidFill>
            <a:srgbClr val="FFFFFF"/>
          </a:solidFill>
          <a:ln/>
        </p:spPr>
      </p:sp>
      <p:pic>
        <p:nvPicPr>
          <p:cNvPr id="3" name="Image 0" descr="/home/claude/work/qmul_logo.jpg">    </p:cNvPr>
          <p:cNvPicPr>
            <a:picLocks noChangeAspect="1"/>
          </p:cNvPicPr>
          <p:nvPr/>
        </p:nvPicPr>
        <p:blipFill>
          <a:blip r:embed="rId1"/>
          <a:stretch>
            <a:fillRect/>
          </a:stretch>
        </p:blipFill>
        <p:spPr>
          <a:xfrm>
            <a:off x="10314432" y="384048"/>
            <a:ext cx="1371600" cy="365760"/>
          </a:xfrm>
          <a:prstGeom prst="rect">
            <a:avLst/>
          </a:prstGeom>
        </p:spPr>
      </p:pic>
      <p:sp>
        <p:nvSpPr>
          <p:cNvPr id="4" name="Text 1"/>
          <p:cNvSpPr/>
          <p:nvPr/>
        </p:nvSpPr>
        <p:spPr>
          <a:xfrm>
            <a:off x="502920" y="6473952"/>
            <a:ext cx="7772400" cy="274320"/>
          </a:xfrm>
          <a:prstGeom prst="rect">
            <a:avLst/>
          </a:prstGeom>
          <a:noFill/>
          <a:ln/>
        </p:spPr>
        <p:txBody>
          <a:bodyPr wrap="square" rtlCol="0" anchor="ctr"/>
          <a:lstStyle/>
          <a:p>
            <a:pPr algn="l" indent="0" marL="0">
              <a:buNone/>
            </a:pPr>
            <a:r>
              <a:rPr lang="en-US" sz="900" dirty="0">
                <a:solidFill>
                  <a:srgbClr val="9FB3C8"/>
                </a:solidFill>
                <a:latin typeface="Calibri" pitchFamily="34" charset="0"/>
                <a:ea typeface="Calibri" pitchFamily="34" charset="-122"/>
                <a:cs typeface="Calibri" pitchFamily="34" charset="-120"/>
              </a:rPr>
              <a:t>Ayush Deshmukh  ·  MSc Data Science  ·  Queen Mary University of London</a:t>
            </a:r>
            <a:endParaRPr lang="en-US" sz="900" dirty="0"/>
          </a:p>
        </p:txBody>
      </p:sp>
      <p:sp>
        <p:nvSpPr>
          <p:cNvPr id="5" name="Text 2"/>
          <p:cNvSpPr/>
          <p:nvPr/>
        </p:nvSpPr>
        <p:spPr>
          <a:xfrm>
            <a:off x="11231575" y="6473952"/>
            <a:ext cx="457200" cy="274320"/>
          </a:xfrm>
          <a:prstGeom prst="rect">
            <a:avLst/>
          </a:prstGeom>
          <a:noFill/>
          <a:ln/>
        </p:spPr>
        <p:txBody>
          <a:bodyPr wrap="square" rtlCol="0" anchor="ctr"/>
          <a:lstStyle/>
          <a:p>
            <a:pPr algn="r" indent="0" marL="0">
              <a:buNone/>
            </a:pPr>
            <a:r>
              <a:rPr lang="en-US" sz="900" dirty="0">
                <a:solidFill>
                  <a:srgbClr val="9FB3C8"/>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502920" y="1371600"/>
            <a:ext cx="5486400" cy="320040"/>
          </a:xfrm>
          <a:prstGeom prst="rect">
            <a:avLst/>
          </a:prstGeom>
          <a:noFill/>
          <a:ln/>
        </p:spPr>
        <p:txBody>
          <a:bodyPr wrap="square" rtlCol="0" anchor="ctr"/>
          <a:lstStyle/>
          <a:p>
            <a:pPr indent="0" marL="0">
              <a:buNone/>
            </a:pPr>
            <a:r>
              <a:rPr lang="en-US" sz="1200" b="1" spc="250" kern="0" dirty="0">
                <a:solidFill>
                  <a:srgbClr val="6FA8E8"/>
                </a:solidFill>
                <a:latin typeface="Calibri" pitchFamily="34" charset="0"/>
                <a:ea typeface="Calibri" pitchFamily="34" charset="-122"/>
                <a:cs typeface="Calibri" pitchFamily="34" charset="-120"/>
              </a:rPr>
              <a:t>CONCLUSION</a:t>
            </a:r>
            <a:endParaRPr lang="en-US" sz="1200" dirty="0"/>
          </a:p>
        </p:txBody>
      </p:sp>
      <p:sp>
        <p:nvSpPr>
          <p:cNvPr id="7" name="Text 4"/>
          <p:cNvSpPr/>
          <p:nvPr/>
        </p:nvSpPr>
        <p:spPr>
          <a:xfrm>
            <a:off x="502920" y="1783080"/>
            <a:ext cx="8686800" cy="2377440"/>
          </a:xfrm>
          <a:prstGeom prst="rect">
            <a:avLst/>
          </a:prstGeom>
          <a:noFill/>
          <a:ln/>
        </p:spPr>
        <p:txBody>
          <a:bodyPr wrap="square" rtlCol="0" anchor="ctr"/>
          <a:lstStyle/>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A lightweight CNN can tell Wake from Sleep</a:t>
            </a:r>
            <a:endParaRPr lang="en-US" sz="2600" dirty="0"/>
          </a:p>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using raw ECG alone — and compress to a</a:t>
            </a:r>
            <a:endParaRPr lang="en-US" sz="2600" dirty="0"/>
          </a:p>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fraction of its size with almost no loss</a:t>
            </a:r>
            <a:endParaRPr lang="en-US" sz="2600" dirty="0"/>
          </a:p>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in performance.</a:t>
            </a:r>
            <a:endParaRPr lang="en-US" sz="2600" dirty="0"/>
          </a:p>
        </p:txBody>
      </p:sp>
      <p:sp>
        <p:nvSpPr>
          <p:cNvPr id="8" name="Shape 5"/>
          <p:cNvSpPr/>
          <p:nvPr/>
        </p:nvSpPr>
        <p:spPr>
          <a:xfrm>
            <a:off x="502920" y="4434840"/>
            <a:ext cx="2194560" cy="1051560"/>
          </a:xfrm>
          <a:prstGeom prst="roundRect">
            <a:avLst>
              <a:gd name="adj" fmla="val 6957"/>
            </a:avLst>
          </a:prstGeom>
          <a:solidFill>
            <a:srgbClr val="0F3A63"/>
          </a:solidFill>
          <a:ln/>
        </p:spPr>
      </p:sp>
      <p:sp>
        <p:nvSpPr>
          <p:cNvPr id="9" name="Text 6"/>
          <p:cNvSpPr/>
          <p:nvPr/>
        </p:nvSpPr>
        <p:spPr>
          <a:xfrm>
            <a:off x="502920" y="4526280"/>
            <a:ext cx="2194560" cy="502920"/>
          </a:xfrm>
          <a:prstGeom prst="rect">
            <a:avLst/>
          </a:prstGeom>
          <a:noFill/>
          <a:ln/>
        </p:spPr>
        <p:txBody>
          <a:bodyPr wrap="square" rtlCol="0" anchor="ctr"/>
          <a:lstStyle/>
          <a:p>
            <a:pPr algn="ctr" indent="0" marL="0">
              <a:buNone/>
            </a:pPr>
            <a:r>
              <a:rPr lang="en-US" sz="2000" b="1" dirty="0">
                <a:solidFill>
                  <a:srgbClr val="E4572E"/>
                </a:solidFill>
                <a:latin typeface="Cambria" pitchFamily="34" charset="0"/>
                <a:ea typeface="Cambria" pitchFamily="34" charset="-122"/>
                <a:cs typeface="Cambria" pitchFamily="34" charset="-120"/>
              </a:rPr>
              <a:t>0.738</a:t>
            </a:r>
            <a:endParaRPr lang="en-US" sz="2000" dirty="0"/>
          </a:p>
        </p:txBody>
      </p:sp>
      <p:sp>
        <p:nvSpPr>
          <p:cNvPr id="10" name="Text 7"/>
          <p:cNvSpPr/>
          <p:nvPr/>
        </p:nvSpPr>
        <p:spPr>
          <a:xfrm>
            <a:off x="502920" y="5029200"/>
            <a:ext cx="2194560" cy="320040"/>
          </a:xfrm>
          <a:prstGeom prst="rect">
            <a:avLst/>
          </a:prstGeom>
          <a:noFill/>
          <a:ln/>
        </p:spPr>
        <p:txBody>
          <a:bodyPr wrap="square" rtlCol="0" anchor="ctr"/>
          <a:lstStyle/>
          <a:p>
            <a:pPr algn="ctr" indent="0" marL="0">
              <a:buNone/>
            </a:pPr>
            <a:r>
              <a:rPr lang="en-US" sz="1050" dirty="0">
                <a:solidFill>
                  <a:srgbClr val="C3D6EA"/>
                </a:solidFill>
                <a:latin typeface="Calibri" pitchFamily="34" charset="0"/>
                <a:ea typeface="Calibri" pitchFamily="34" charset="-122"/>
                <a:cs typeface="Calibri" pitchFamily="34" charset="-120"/>
              </a:rPr>
              <a:t>Held-out F1</a:t>
            </a:r>
            <a:endParaRPr lang="en-US" sz="1050" dirty="0"/>
          </a:p>
        </p:txBody>
      </p:sp>
      <p:sp>
        <p:nvSpPr>
          <p:cNvPr id="11" name="Shape 8"/>
          <p:cNvSpPr/>
          <p:nvPr/>
        </p:nvSpPr>
        <p:spPr>
          <a:xfrm>
            <a:off x="2926080" y="4434840"/>
            <a:ext cx="2194560" cy="1051560"/>
          </a:xfrm>
          <a:prstGeom prst="roundRect">
            <a:avLst>
              <a:gd name="adj" fmla="val 6957"/>
            </a:avLst>
          </a:prstGeom>
          <a:solidFill>
            <a:srgbClr val="0F3A63"/>
          </a:solidFill>
          <a:ln/>
        </p:spPr>
      </p:sp>
      <p:sp>
        <p:nvSpPr>
          <p:cNvPr id="12" name="Text 9"/>
          <p:cNvSpPr/>
          <p:nvPr/>
        </p:nvSpPr>
        <p:spPr>
          <a:xfrm>
            <a:off x="2926080" y="4526280"/>
            <a:ext cx="2194560" cy="502920"/>
          </a:xfrm>
          <a:prstGeom prst="rect">
            <a:avLst/>
          </a:prstGeom>
          <a:noFill/>
          <a:ln/>
        </p:spPr>
        <p:txBody>
          <a:bodyPr wrap="square" rtlCol="0" anchor="ctr"/>
          <a:lstStyle/>
          <a:p>
            <a:pPr algn="ctr" indent="0" marL="0">
              <a:buNone/>
            </a:pPr>
            <a:r>
              <a:rPr lang="en-US" sz="2000" b="1" dirty="0">
                <a:solidFill>
                  <a:srgbClr val="E4572E"/>
                </a:solidFill>
                <a:latin typeface="Cambria" pitchFamily="34" charset="0"/>
                <a:ea typeface="Cambria" pitchFamily="34" charset="-122"/>
                <a:cs typeface="Cambria" pitchFamily="34" charset="-120"/>
              </a:rPr>
              <a:t>34.1%</a:t>
            </a:r>
            <a:endParaRPr lang="en-US" sz="2000" dirty="0"/>
          </a:p>
        </p:txBody>
      </p:sp>
      <p:sp>
        <p:nvSpPr>
          <p:cNvPr id="13" name="Text 10"/>
          <p:cNvSpPr/>
          <p:nvPr/>
        </p:nvSpPr>
        <p:spPr>
          <a:xfrm>
            <a:off x="2926080" y="5029200"/>
            <a:ext cx="2194560" cy="320040"/>
          </a:xfrm>
          <a:prstGeom prst="rect">
            <a:avLst/>
          </a:prstGeom>
          <a:noFill/>
          <a:ln/>
        </p:spPr>
        <p:txBody>
          <a:bodyPr wrap="square" rtlCol="0" anchor="ctr"/>
          <a:lstStyle/>
          <a:p>
            <a:pPr algn="ctr" indent="0" marL="0">
              <a:buNone/>
            </a:pPr>
            <a:r>
              <a:rPr lang="en-US" sz="1050" dirty="0">
                <a:solidFill>
                  <a:srgbClr val="C3D6EA"/>
                </a:solidFill>
                <a:latin typeface="Calibri" pitchFamily="34" charset="0"/>
                <a:ea typeface="Calibri" pitchFamily="34" charset="-122"/>
                <a:cs typeface="Calibri" pitchFamily="34" charset="-120"/>
              </a:rPr>
              <a:t>Smaller</a:t>
            </a:r>
            <a:endParaRPr lang="en-US" sz="1050" dirty="0"/>
          </a:p>
        </p:txBody>
      </p:sp>
      <p:sp>
        <p:nvSpPr>
          <p:cNvPr id="14" name="Shape 11"/>
          <p:cNvSpPr/>
          <p:nvPr/>
        </p:nvSpPr>
        <p:spPr>
          <a:xfrm>
            <a:off x="5349240" y="4434840"/>
            <a:ext cx="2194560" cy="1051560"/>
          </a:xfrm>
          <a:prstGeom prst="roundRect">
            <a:avLst>
              <a:gd name="adj" fmla="val 6957"/>
            </a:avLst>
          </a:prstGeom>
          <a:solidFill>
            <a:srgbClr val="0F3A63"/>
          </a:solidFill>
          <a:ln/>
        </p:spPr>
      </p:sp>
      <p:sp>
        <p:nvSpPr>
          <p:cNvPr id="15" name="Text 12"/>
          <p:cNvSpPr/>
          <p:nvPr/>
        </p:nvSpPr>
        <p:spPr>
          <a:xfrm>
            <a:off x="5349240" y="4526280"/>
            <a:ext cx="2194560" cy="502920"/>
          </a:xfrm>
          <a:prstGeom prst="rect">
            <a:avLst/>
          </a:prstGeom>
          <a:noFill/>
          <a:ln/>
        </p:spPr>
        <p:txBody>
          <a:bodyPr wrap="square" rtlCol="0" anchor="ctr"/>
          <a:lstStyle/>
          <a:p>
            <a:pPr algn="ctr" indent="0" marL="0">
              <a:buNone/>
            </a:pPr>
            <a:r>
              <a:rPr lang="en-US" sz="2000" b="1" dirty="0">
                <a:solidFill>
                  <a:srgbClr val="E4572E"/>
                </a:solidFill>
                <a:latin typeface="Cambria" pitchFamily="34" charset="0"/>
                <a:ea typeface="Cambria" pitchFamily="34" charset="-122"/>
                <a:cs typeface="Cambria" pitchFamily="34" charset="-120"/>
              </a:rPr>
              <a:t>1.85×</a:t>
            </a:r>
            <a:endParaRPr lang="en-US" sz="2000" dirty="0"/>
          </a:p>
        </p:txBody>
      </p:sp>
      <p:sp>
        <p:nvSpPr>
          <p:cNvPr id="16" name="Text 13"/>
          <p:cNvSpPr/>
          <p:nvPr/>
        </p:nvSpPr>
        <p:spPr>
          <a:xfrm>
            <a:off x="5349240" y="5029200"/>
            <a:ext cx="2194560" cy="320040"/>
          </a:xfrm>
          <a:prstGeom prst="rect">
            <a:avLst/>
          </a:prstGeom>
          <a:noFill/>
          <a:ln/>
        </p:spPr>
        <p:txBody>
          <a:bodyPr wrap="square" rtlCol="0" anchor="ctr"/>
          <a:lstStyle/>
          <a:p>
            <a:pPr algn="ctr" indent="0" marL="0">
              <a:buNone/>
            </a:pPr>
            <a:r>
              <a:rPr lang="en-US" sz="1050" dirty="0">
                <a:solidFill>
                  <a:srgbClr val="C3D6EA"/>
                </a:solidFill>
                <a:latin typeface="Calibri" pitchFamily="34" charset="0"/>
                <a:ea typeface="Calibri" pitchFamily="34" charset="-122"/>
                <a:cs typeface="Calibri" pitchFamily="34" charset="-120"/>
              </a:rPr>
              <a:t>Faster</a:t>
            </a:r>
            <a:endParaRPr lang="en-US" sz="1050" dirty="0"/>
          </a:p>
        </p:txBody>
      </p:sp>
      <p:sp>
        <p:nvSpPr>
          <p:cNvPr id="17" name="Text 14"/>
          <p:cNvSpPr/>
          <p:nvPr/>
        </p:nvSpPr>
        <p:spPr>
          <a:xfrm>
            <a:off x="502920" y="5806440"/>
            <a:ext cx="7315200" cy="457200"/>
          </a:xfrm>
          <a:prstGeom prst="rect">
            <a:avLst/>
          </a:prstGeom>
          <a:noFill/>
          <a:ln/>
        </p:spPr>
        <p:txBody>
          <a:bodyPr wrap="square" rtlCol="0" anchor="ctr"/>
          <a:lstStyle/>
          <a:p>
            <a:pPr indent="0" marL="0">
              <a:buNone/>
            </a:pPr>
            <a:r>
              <a:rPr lang="en-US" sz="1600" i="1" dirty="0">
                <a:solidFill>
                  <a:srgbClr val="D7E6F5"/>
                </a:solidFill>
                <a:latin typeface="Calibri" pitchFamily="34" charset="0"/>
                <a:ea typeface="Calibri" pitchFamily="34" charset="-122"/>
                <a:cs typeface="Calibri" pitchFamily="34" charset="-120"/>
              </a:rPr>
              <a:t>Thank you for watching.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2026-08-19T04:28:28Z</dcterms:created>
  <dcterms:modified xsi:type="dcterms:W3CDTF">2026-08-19T04:28:28Z</dcterms:modified>
</cp:coreProperties>
</file>